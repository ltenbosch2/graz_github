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95" r:id="rId3"/>
    <p:sldId id="786" r:id="rId4"/>
    <p:sldId id="785" r:id="rId5"/>
    <p:sldId id="263" r:id="rId6"/>
    <p:sldId id="464" r:id="rId7"/>
    <p:sldId id="489" r:id="rId8"/>
    <p:sldId id="931" r:id="rId9"/>
    <p:sldId id="806" r:id="rId10"/>
    <p:sldId id="479" r:id="rId11"/>
    <p:sldId id="881" r:id="rId12"/>
    <p:sldId id="882" r:id="rId13"/>
    <p:sldId id="789" r:id="rId14"/>
    <p:sldId id="858" r:id="rId15"/>
    <p:sldId id="791" r:id="rId16"/>
    <p:sldId id="878" r:id="rId17"/>
    <p:sldId id="469" r:id="rId18"/>
    <p:sldId id="257" r:id="rId19"/>
    <p:sldId id="930" r:id="rId20"/>
    <p:sldId id="281" r:id="rId21"/>
    <p:sldId id="932" r:id="rId22"/>
    <p:sldId id="258" r:id="rId23"/>
    <p:sldId id="259" r:id="rId24"/>
    <p:sldId id="925" r:id="rId25"/>
    <p:sldId id="926" r:id="rId26"/>
    <p:sldId id="924" r:id="rId2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A237A-B5AD-4D22-88BB-CEC3948ACBCA}" v="8" dt="2025-09-16T14:52:16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sch, L.F.M. ten (Louis)" userId="f90aafc9-cae9-4cd6-a4c5-ca4a52c34b90" providerId="ADAL" clId="{50CA237A-B5AD-4D22-88BB-CEC3948ACBCA}"/>
    <pc:docChg chg="undo custSel addSld modSld">
      <pc:chgData name="Bosch, L.F.M. ten (Louis)" userId="f90aafc9-cae9-4cd6-a4c5-ca4a52c34b90" providerId="ADAL" clId="{50CA237A-B5AD-4D22-88BB-CEC3948ACBCA}" dt="2025-09-16T14:53:11.402" v="443" actId="20577"/>
      <pc:docMkLst>
        <pc:docMk/>
      </pc:docMkLst>
      <pc:sldChg chg="modSp mod">
        <pc:chgData name="Bosch, L.F.M. ten (Louis)" userId="f90aafc9-cae9-4cd6-a4c5-ca4a52c34b90" providerId="ADAL" clId="{50CA237A-B5AD-4D22-88BB-CEC3948ACBCA}" dt="2025-09-16T14:53:11.402" v="443" actId="20577"/>
        <pc:sldMkLst>
          <pc:docMk/>
          <pc:sldMk cId="3607909507" sldId="258"/>
        </pc:sldMkLst>
        <pc:spChg chg="mod">
          <ac:chgData name="Bosch, L.F.M. ten (Louis)" userId="f90aafc9-cae9-4cd6-a4c5-ca4a52c34b90" providerId="ADAL" clId="{50CA237A-B5AD-4D22-88BB-CEC3948ACBCA}" dt="2025-09-16T14:53:11.402" v="443" actId="20577"/>
          <ac:spMkLst>
            <pc:docMk/>
            <pc:sldMk cId="3607909507" sldId="258"/>
            <ac:spMk id="3" creationId="{E98DA075-952C-1243-18AF-085AD9EB31D3}"/>
          </ac:spMkLst>
        </pc:spChg>
      </pc:sldChg>
      <pc:sldChg chg="modSp mod">
        <pc:chgData name="Bosch, L.F.M. ten (Louis)" userId="f90aafc9-cae9-4cd6-a4c5-ca4a52c34b90" providerId="ADAL" clId="{50CA237A-B5AD-4D22-88BB-CEC3948ACBCA}" dt="2025-09-16T14:37:35.258" v="3" actId="27636"/>
        <pc:sldMkLst>
          <pc:docMk/>
          <pc:sldMk cId="2889690073" sldId="479"/>
        </pc:sldMkLst>
        <pc:spChg chg="mod">
          <ac:chgData name="Bosch, L.F.M. ten (Louis)" userId="f90aafc9-cae9-4cd6-a4c5-ca4a52c34b90" providerId="ADAL" clId="{50CA237A-B5AD-4D22-88BB-CEC3948ACBCA}" dt="2025-09-16T14:37:35.258" v="3" actId="27636"/>
          <ac:spMkLst>
            <pc:docMk/>
            <pc:sldMk cId="2889690073" sldId="479"/>
            <ac:spMk id="2" creationId="{CE62594D-B578-D760-5C03-E5762C69F218}"/>
          </ac:spMkLst>
        </pc:spChg>
      </pc:sldChg>
      <pc:sldChg chg="modSp mod">
        <pc:chgData name="Bosch, L.F.M. ten (Louis)" userId="f90aafc9-cae9-4cd6-a4c5-ca4a52c34b90" providerId="ADAL" clId="{50CA237A-B5AD-4D22-88BB-CEC3948ACBCA}" dt="2025-09-16T14:44:23.921" v="46" actId="207"/>
        <pc:sldMkLst>
          <pc:docMk/>
          <pc:sldMk cId="2159260571" sldId="489"/>
        </pc:sldMkLst>
        <pc:spChg chg="mod">
          <ac:chgData name="Bosch, L.F.M. ten (Louis)" userId="f90aafc9-cae9-4cd6-a4c5-ca4a52c34b90" providerId="ADAL" clId="{50CA237A-B5AD-4D22-88BB-CEC3948ACBCA}" dt="2025-09-16T14:42:27.413" v="42" actId="207"/>
          <ac:spMkLst>
            <pc:docMk/>
            <pc:sldMk cId="2159260571" sldId="489"/>
            <ac:spMk id="3" creationId="{23ED8D29-7A46-46FD-31A4-050758DEEB9D}"/>
          </ac:spMkLst>
        </pc:spChg>
        <pc:spChg chg="mod">
          <ac:chgData name="Bosch, L.F.M. ten (Louis)" userId="f90aafc9-cae9-4cd6-a4c5-ca4a52c34b90" providerId="ADAL" clId="{50CA237A-B5AD-4D22-88BB-CEC3948ACBCA}" dt="2025-09-16T14:43:26.159" v="43" actId="207"/>
          <ac:spMkLst>
            <pc:docMk/>
            <pc:sldMk cId="2159260571" sldId="489"/>
            <ac:spMk id="4" creationId="{0FE954EA-4C74-83B2-07C8-1A322D469DA4}"/>
          </ac:spMkLst>
        </pc:spChg>
        <pc:spChg chg="mod">
          <ac:chgData name="Bosch, L.F.M. ten (Louis)" userId="f90aafc9-cae9-4cd6-a4c5-ca4a52c34b90" providerId="ADAL" clId="{50CA237A-B5AD-4D22-88BB-CEC3948ACBCA}" dt="2025-09-16T14:43:44.745" v="44" actId="207"/>
          <ac:spMkLst>
            <pc:docMk/>
            <pc:sldMk cId="2159260571" sldId="489"/>
            <ac:spMk id="5" creationId="{D54CB72E-C0CC-E1A9-8D43-D257B1408E9D}"/>
          </ac:spMkLst>
        </pc:spChg>
        <pc:spChg chg="mod">
          <ac:chgData name="Bosch, L.F.M. ten (Louis)" userId="f90aafc9-cae9-4cd6-a4c5-ca4a52c34b90" providerId="ADAL" clId="{50CA237A-B5AD-4D22-88BB-CEC3948ACBCA}" dt="2025-09-16T14:44:08.393" v="45" actId="207"/>
          <ac:spMkLst>
            <pc:docMk/>
            <pc:sldMk cId="2159260571" sldId="489"/>
            <ac:spMk id="6" creationId="{21AA0570-E2C0-DC05-1543-D435FA5153ED}"/>
          </ac:spMkLst>
        </pc:spChg>
        <pc:spChg chg="mod">
          <ac:chgData name="Bosch, L.F.M. ten (Louis)" userId="f90aafc9-cae9-4cd6-a4c5-ca4a52c34b90" providerId="ADAL" clId="{50CA237A-B5AD-4D22-88BB-CEC3948ACBCA}" dt="2025-09-16T14:44:23.921" v="46" actId="207"/>
          <ac:spMkLst>
            <pc:docMk/>
            <pc:sldMk cId="2159260571" sldId="489"/>
            <ac:spMk id="7" creationId="{095B4C17-22C4-8431-66C6-5591B8B5C6B7}"/>
          </ac:spMkLst>
        </pc:spChg>
      </pc:sldChg>
      <pc:sldChg chg="modSp mod">
        <pc:chgData name="Bosch, L.F.M. ten (Louis)" userId="f90aafc9-cae9-4cd6-a4c5-ca4a52c34b90" providerId="ADAL" clId="{50CA237A-B5AD-4D22-88BB-CEC3948ACBCA}" dt="2025-09-16T14:37:45.241" v="7" actId="27636"/>
        <pc:sldMkLst>
          <pc:docMk/>
          <pc:sldMk cId="3507041878" sldId="881"/>
        </pc:sldMkLst>
        <pc:spChg chg="mod">
          <ac:chgData name="Bosch, L.F.M. ten (Louis)" userId="f90aafc9-cae9-4cd6-a4c5-ca4a52c34b90" providerId="ADAL" clId="{50CA237A-B5AD-4D22-88BB-CEC3948ACBCA}" dt="2025-09-16T14:37:45.241" v="7" actId="27636"/>
          <ac:spMkLst>
            <pc:docMk/>
            <pc:sldMk cId="3507041878" sldId="881"/>
            <ac:spMk id="2" creationId="{CE62594D-B578-D760-5C03-E5762C69F218}"/>
          </ac:spMkLst>
        </pc:spChg>
      </pc:sldChg>
      <pc:sldChg chg="modSp mod">
        <pc:chgData name="Bosch, L.F.M. ten (Louis)" userId="f90aafc9-cae9-4cd6-a4c5-ca4a52c34b90" providerId="ADAL" clId="{50CA237A-B5AD-4D22-88BB-CEC3948ACBCA}" dt="2025-09-16T14:39:14.087" v="41" actId="20577"/>
        <pc:sldMkLst>
          <pc:docMk/>
          <pc:sldMk cId="2309828623" sldId="930"/>
        </pc:sldMkLst>
        <pc:spChg chg="mod">
          <ac:chgData name="Bosch, L.F.M. ten (Louis)" userId="f90aafc9-cae9-4cd6-a4c5-ca4a52c34b90" providerId="ADAL" clId="{50CA237A-B5AD-4D22-88BB-CEC3948ACBCA}" dt="2025-09-16T14:39:14.087" v="41" actId="20577"/>
          <ac:spMkLst>
            <pc:docMk/>
            <pc:sldMk cId="2309828623" sldId="930"/>
            <ac:spMk id="3" creationId="{65217273-DA33-AE09-039E-30C339C45537}"/>
          </ac:spMkLst>
        </pc:spChg>
      </pc:sldChg>
      <pc:sldChg chg="addSp delSp modSp add mod">
        <pc:chgData name="Bosch, L.F.M. ten (Louis)" userId="f90aafc9-cae9-4cd6-a4c5-ca4a52c34b90" providerId="ADAL" clId="{50CA237A-B5AD-4D22-88BB-CEC3948ACBCA}" dt="2025-09-16T14:52:23.243" v="420" actId="14100"/>
        <pc:sldMkLst>
          <pc:docMk/>
          <pc:sldMk cId="988851794" sldId="931"/>
        </pc:sldMkLst>
        <pc:spChg chg="mod">
          <ac:chgData name="Bosch, L.F.M. ten (Louis)" userId="f90aafc9-cae9-4cd6-a4c5-ca4a52c34b90" providerId="ADAL" clId="{50CA237A-B5AD-4D22-88BB-CEC3948ACBCA}" dt="2025-09-16T14:47:08.239" v="185" actId="20577"/>
          <ac:spMkLst>
            <pc:docMk/>
            <pc:sldMk cId="988851794" sldId="931"/>
            <ac:spMk id="2" creationId="{CE95F470-D179-6DB0-8391-2E083DECEEE5}"/>
          </ac:spMkLst>
        </pc:spChg>
        <pc:spChg chg="mod">
          <ac:chgData name="Bosch, L.F.M. ten (Louis)" userId="f90aafc9-cae9-4cd6-a4c5-ca4a52c34b90" providerId="ADAL" clId="{50CA237A-B5AD-4D22-88BB-CEC3948ACBCA}" dt="2025-09-16T14:49:02.982" v="323" actId="14100"/>
          <ac:spMkLst>
            <pc:docMk/>
            <pc:sldMk cId="988851794" sldId="931"/>
            <ac:spMk id="3" creationId="{DE3B24EE-0DC5-E778-CE96-C19B3A9CFA54}"/>
          </ac:spMkLst>
        </pc:spChg>
        <pc:spChg chg="mod">
          <ac:chgData name="Bosch, L.F.M. ten (Louis)" userId="f90aafc9-cae9-4cd6-a4c5-ca4a52c34b90" providerId="ADAL" clId="{50CA237A-B5AD-4D22-88BB-CEC3948ACBCA}" dt="2025-09-16T14:49:10.569" v="341" actId="1037"/>
          <ac:spMkLst>
            <pc:docMk/>
            <pc:sldMk cId="988851794" sldId="931"/>
            <ac:spMk id="4" creationId="{C075C6F4-5460-60BF-EC4D-DE7033B19BAC}"/>
          </ac:spMkLst>
        </pc:spChg>
        <pc:spChg chg="mod">
          <ac:chgData name="Bosch, L.F.M. ten (Louis)" userId="f90aafc9-cae9-4cd6-a4c5-ca4a52c34b90" providerId="ADAL" clId="{50CA237A-B5AD-4D22-88BB-CEC3948ACBCA}" dt="2025-09-16T14:49:10.569" v="341" actId="1037"/>
          <ac:spMkLst>
            <pc:docMk/>
            <pc:sldMk cId="988851794" sldId="931"/>
            <ac:spMk id="5" creationId="{DDCE9CCD-0EB9-8FF2-E987-824FCDB261E6}"/>
          </ac:spMkLst>
        </pc:spChg>
        <pc:spChg chg="mod">
          <ac:chgData name="Bosch, L.F.M. ten (Louis)" userId="f90aafc9-cae9-4cd6-a4c5-ca4a52c34b90" providerId="ADAL" clId="{50CA237A-B5AD-4D22-88BB-CEC3948ACBCA}" dt="2025-09-16T14:51:07.029" v="408" actId="1076"/>
          <ac:spMkLst>
            <pc:docMk/>
            <pc:sldMk cId="988851794" sldId="931"/>
            <ac:spMk id="6" creationId="{B7B554FB-75F2-FF22-5757-33C88B8EF939}"/>
          </ac:spMkLst>
        </pc:spChg>
        <pc:spChg chg="mod">
          <ac:chgData name="Bosch, L.F.M. ten (Louis)" userId="f90aafc9-cae9-4cd6-a4c5-ca4a52c34b90" providerId="ADAL" clId="{50CA237A-B5AD-4D22-88BB-CEC3948ACBCA}" dt="2025-09-16T14:50:29.329" v="393" actId="1076"/>
          <ac:spMkLst>
            <pc:docMk/>
            <pc:sldMk cId="988851794" sldId="931"/>
            <ac:spMk id="7" creationId="{C4F23A8A-6A93-D2C4-2ADC-9C26303882A4}"/>
          </ac:spMkLst>
        </pc:spChg>
        <pc:spChg chg="add mod">
          <ac:chgData name="Bosch, L.F.M. ten (Louis)" userId="f90aafc9-cae9-4cd6-a4c5-ca4a52c34b90" providerId="ADAL" clId="{50CA237A-B5AD-4D22-88BB-CEC3948ACBCA}" dt="2025-09-16T14:52:10.307" v="416" actId="1076"/>
          <ac:spMkLst>
            <pc:docMk/>
            <pc:sldMk cId="988851794" sldId="931"/>
            <ac:spMk id="21" creationId="{D2AACD72-4601-7862-19DB-42244C0B10E8}"/>
          </ac:spMkLst>
        </pc:spChg>
        <pc:spChg chg="add mod">
          <ac:chgData name="Bosch, L.F.M. ten (Louis)" userId="f90aafc9-cae9-4cd6-a4c5-ca4a52c34b90" providerId="ADAL" clId="{50CA237A-B5AD-4D22-88BB-CEC3948ACBCA}" dt="2025-09-16T14:51:49.515" v="413" actId="1076"/>
          <ac:spMkLst>
            <pc:docMk/>
            <pc:sldMk cId="988851794" sldId="931"/>
            <ac:spMk id="22" creationId="{5B1D0C7B-4236-722A-9963-DCC37DB4DFE8}"/>
          </ac:spMkLst>
        </pc:spChg>
        <pc:spChg chg="add mod">
          <ac:chgData name="Bosch, L.F.M. ten (Louis)" userId="f90aafc9-cae9-4cd6-a4c5-ca4a52c34b90" providerId="ADAL" clId="{50CA237A-B5AD-4D22-88BB-CEC3948ACBCA}" dt="2025-09-16T14:49:56.674" v="387" actId="1035"/>
          <ac:spMkLst>
            <pc:docMk/>
            <pc:sldMk cId="988851794" sldId="931"/>
            <ac:spMk id="23" creationId="{3B02CE91-84D5-E238-B542-1EA4BD5756BE}"/>
          </ac:spMkLst>
        </pc:spChg>
        <pc:cxnChg chg="mod">
          <ac:chgData name="Bosch, L.F.M. ten (Louis)" userId="f90aafc9-cae9-4cd6-a4c5-ca4a52c34b90" providerId="ADAL" clId="{50CA237A-B5AD-4D22-88BB-CEC3948ACBCA}" dt="2025-09-16T14:49:02.982" v="323" actId="14100"/>
          <ac:cxnSpMkLst>
            <pc:docMk/>
            <pc:sldMk cId="988851794" sldId="931"/>
            <ac:cxnSpMk id="9" creationId="{FAE3DEBA-737C-5F0E-981F-2CF1E7F0F550}"/>
          </ac:cxnSpMkLst>
        </pc:cxnChg>
        <pc:cxnChg chg="mod">
          <ac:chgData name="Bosch, L.F.M. ten (Louis)" userId="f90aafc9-cae9-4cd6-a4c5-ca4a52c34b90" providerId="ADAL" clId="{50CA237A-B5AD-4D22-88BB-CEC3948ACBCA}" dt="2025-09-16T14:49:10.569" v="341" actId="1037"/>
          <ac:cxnSpMkLst>
            <pc:docMk/>
            <pc:sldMk cId="988851794" sldId="931"/>
            <ac:cxnSpMk id="10" creationId="{35A0059C-8EC9-C0EE-31CC-F3FD0A4EFCD5}"/>
          </ac:cxnSpMkLst>
        </pc:cxnChg>
        <pc:cxnChg chg="mod">
          <ac:chgData name="Bosch, L.F.M. ten (Louis)" userId="f90aafc9-cae9-4cd6-a4c5-ca4a52c34b90" providerId="ADAL" clId="{50CA237A-B5AD-4D22-88BB-CEC3948ACBCA}" dt="2025-09-16T14:51:07.029" v="408" actId="1076"/>
          <ac:cxnSpMkLst>
            <pc:docMk/>
            <pc:sldMk cId="988851794" sldId="931"/>
            <ac:cxnSpMk id="13" creationId="{A19DD0B1-96A5-E830-F030-7A9580E4D72E}"/>
          </ac:cxnSpMkLst>
        </pc:cxnChg>
        <pc:cxnChg chg="mod">
          <ac:chgData name="Bosch, L.F.M. ten (Louis)" userId="f90aafc9-cae9-4cd6-a4c5-ca4a52c34b90" providerId="ADAL" clId="{50CA237A-B5AD-4D22-88BB-CEC3948ACBCA}" dt="2025-09-16T14:51:07.029" v="408" actId="1076"/>
          <ac:cxnSpMkLst>
            <pc:docMk/>
            <pc:sldMk cId="988851794" sldId="931"/>
            <ac:cxnSpMk id="16" creationId="{9182D4AC-8A7A-C191-23BD-99F4E8510B63}"/>
          </ac:cxnSpMkLst>
        </pc:cxnChg>
        <pc:cxnChg chg="add del mod">
          <ac:chgData name="Bosch, L.F.M. ten (Louis)" userId="f90aafc9-cae9-4cd6-a4c5-ca4a52c34b90" providerId="ADAL" clId="{50CA237A-B5AD-4D22-88BB-CEC3948ACBCA}" dt="2025-09-16T14:52:12.819" v="417" actId="478"/>
          <ac:cxnSpMkLst>
            <pc:docMk/>
            <pc:sldMk cId="988851794" sldId="931"/>
            <ac:cxnSpMk id="27" creationId="{6447C932-6732-7264-009D-5F6DB3B59968}"/>
          </ac:cxnSpMkLst>
        </pc:cxnChg>
        <pc:cxnChg chg="add mod">
          <ac:chgData name="Bosch, L.F.M. ten (Louis)" userId="f90aafc9-cae9-4cd6-a4c5-ca4a52c34b90" providerId="ADAL" clId="{50CA237A-B5AD-4D22-88BB-CEC3948ACBCA}" dt="2025-09-16T14:51:49.515" v="413" actId="1076"/>
          <ac:cxnSpMkLst>
            <pc:docMk/>
            <pc:sldMk cId="988851794" sldId="931"/>
            <ac:cxnSpMk id="28" creationId="{08987B69-B5AA-41D0-1103-4A94DC912F37}"/>
          </ac:cxnSpMkLst>
        </pc:cxnChg>
        <pc:cxnChg chg="add del mod">
          <ac:chgData name="Bosch, L.F.M. ten (Louis)" userId="f90aafc9-cae9-4cd6-a4c5-ca4a52c34b90" providerId="ADAL" clId="{50CA237A-B5AD-4D22-88BB-CEC3948ACBCA}" dt="2025-09-16T14:52:07.947" v="415" actId="478"/>
          <ac:cxnSpMkLst>
            <pc:docMk/>
            <pc:sldMk cId="988851794" sldId="931"/>
            <ac:cxnSpMk id="35" creationId="{129D22C7-3C77-2568-AC88-5EAC13D222E4}"/>
          </ac:cxnSpMkLst>
        </pc:cxnChg>
        <pc:cxnChg chg="add mod">
          <ac:chgData name="Bosch, L.F.M. ten (Louis)" userId="f90aafc9-cae9-4cd6-a4c5-ca4a52c34b90" providerId="ADAL" clId="{50CA237A-B5AD-4D22-88BB-CEC3948ACBCA}" dt="2025-09-16T14:52:10.307" v="416" actId="1076"/>
          <ac:cxnSpMkLst>
            <pc:docMk/>
            <pc:sldMk cId="988851794" sldId="931"/>
            <ac:cxnSpMk id="41" creationId="{C2A14F4D-8B52-B097-EE9F-DC939706CD75}"/>
          </ac:cxnSpMkLst>
        </pc:cxnChg>
        <pc:cxnChg chg="add mod">
          <ac:chgData name="Bosch, L.F.M. ten (Louis)" userId="f90aafc9-cae9-4cd6-a4c5-ca4a52c34b90" providerId="ADAL" clId="{50CA237A-B5AD-4D22-88BB-CEC3948ACBCA}" dt="2025-09-16T14:52:23.243" v="420" actId="14100"/>
          <ac:cxnSpMkLst>
            <pc:docMk/>
            <pc:sldMk cId="988851794" sldId="931"/>
            <ac:cxnSpMk id="43" creationId="{93591FA5-54AA-23E9-39C9-6F2749CD4C7E}"/>
          </ac:cxnSpMkLst>
        </pc:cxnChg>
      </pc:sldChg>
    </pc:docChg>
  </pc:docChgLst>
  <pc:docChgLst>
    <pc:chgData name="Bosch, L.F.M. ten (Louis)" userId="f90aafc9-cae9-4cd6-a4c5-ca4a52c34b90" providerId="ADAL" clId="{D9D4BE6D-D039-46A2-88F8-03323314F448}"/>
    <pc:docChg chg="delSld">
      <pc:chgData name="Bosch, L.F.M. ten (Louis)" userId="f90aafc9-cae9-4cd6-a4c5-ca4a52c34b90" providerId="ADAL" clId="{D9D4BE6D-D039-46A2-88F8-03323314F448}" dt="2025-04-01T13:44:03.774" v="5" actId="47"/>
      <pc:docMkLst>
        <pc:docMk/>
      </pc:docMkLst>
      <pc:sldChg chg="del">
        <pc:chgData name="Bosch, L.F.M. ten (Louis)" userId="f90aafc9-cae9-4cd6-a4c5-ca4a52c34b90" providerId="ADAL" clId="{D9D4BE6D-D039-46A2-88F8-03323314F448}" dt="2025-04-01T13:43:59.066" v="2" actId="47"/>
        <pc:sldMkLst>
          <pc:docMk/>
          <pc:sldMk cId="3695883161" sldId="262"/>
        </pc:sldMkLst>
      </pc:sldChg>
      <pc:sldChg chg="del">
        <pc:chgData name="Bosch, L.F.M. ten (Louis)" userId="f90aafc9-cae9-4cd6-a4c5-ca4a52c34b90" providerId="ADAL" clId="{D9D4BE6D-D039-46A2-88F8-03323314F448}" dt="2025-04-01T13:43:29.647" v="1" actId="47"/>
        <pc:sldMkLst>
          <pc:docMk/>
          <pc:sldMk cId="3180583786" sldId="893"/>
        </pc:sldMkLst>
      </pc:sldChg>
      <pc:sldChg chg="del">
        <pc:chgData name="Bosch, L.F.M. ten (Louis)" userId="f90aafc9-cae9-4cd6-a4c5-ca4a52c34b90" providerId="ADAL" clId="{D9D4BE6D-D039-46A2-88F8-03323314F448}" dt="2025-04-01T13:43:29.077" v="0" actId="47"/>
        <pc:sldMkLst>
          <pc:docMk/>
          <pc:sldMk cId="1895893957" sldId="896"/>
        </pc:sldMkLst>
      </pc:sldChg>
      <pc:sldChg chg="del">
        <pc:chgData name="Bosch, L.F.M. ten (Louis)" userId="f90aafc9-cae9-4cd6-a4c5-ca4a52c34b90" providerId="ADAL" clId="{D9D4BE6D-D039-46A2-88F8-03323314F448}" dt="2025-04-01T13:44:01.802" v="4" actId="47"/>
        <pc:sldMkLst>
          <pc:docMk/>
          <pc:sldMk cId="3155256957" sldId="927"/>
        </pc:sldMkLst>
      </pc:sldChg>
      <pc:sldChg chg="del">
        <pc:chgData name="Bosch, L.F.M. ten (Louis)" userId="f90aafc9-cae9-4cd6-a4c5-ca4a52c34b90" providerId="ADAL" clId="{D9D4BE6D-D039-46A2-88F8-03323314F448}" dt="2025-04-01T13:44:03.774" v="5" actId="47"/>
        <pc:sldMkLst>
          <pc:docMk/>
          <pc:sldMk cId="399636858" sldId="928"/>
        </pc:sldMkLst>
      </pc:sldChg>
      <pc:sldChg chg="del">
        <pc:chgData name="Bosch, L.F.M. ten (Louis)" userId="f90aafc9-cae9-4cd6-a4c5-ca4a52c34b90" providerId="ADAL" clId="{D9D4BE6D-D039-46A2-88F8-03323314F448}" dt="2025-04-01T13:44:01.048" v="3" actId="47"/>
        <pc:sldMkLst>
          <pc:docMk/>
          <pc:sldMk cId="3365288824" sldId="92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94CC-2F76-EBD2-793A-667E56ABC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85DB0-9F1C-B36A-B7DB-D368AD1C9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3DC46-AB42-6EA2-1074-7D01052F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A5C5-A9D3-9A59-A576-5C338AFE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377E-9434-CC42-8A68-76C34AA49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2884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50E7-AB64-D4BC-AB54-28C4C035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E1FC6-362A-F348-037F-6829560D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1849B-D06C-E684-D3F8-4C57BE9B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4B052-E1B2-B1CF-AF8C-E01F05CF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0C5B8-5558-F53E-83BF-1EC99470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2619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DDB-0672-01CC-A403-53FBDC36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F2950-7DF3-45BF-37AE-4541A5DC2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AB463-B512-E75F-BF10-4E53247D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231D3-2F65-ACDE-A748-42C0DEE3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F96D2-BECF-6AC9-8E1C-17969EED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837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2C72-5482-6C23-0183-59253AD5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1018-39F9-1C8C-0E72-2365F37FA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8F863-76F5-4D18-54AA-898113DAB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2045B-B3F7-950F-5331-82151E6C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38613-1DA1-3717-7848-9BD4AD67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D3096-7565-91F9-042D-14EA98FB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693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75DF-6356-97D3-986E-DFD002DB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FEAD0-8283-53D2-8D1F-AE1CB2AD3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1C551-AB78-ACB1-087E-49178E169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7C0600-9850-4E8D-CE80-5600EAFC7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A9F2C-38B4-296F-C74D-CBA016385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7C6AA-1565-D4FC-0FE2-A43155F0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8971A1-5D8C-0927-70B7-5378E620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176607-5E62-6AD2-CE00-E9601546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032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D5C8-B81C-B7DF-9E9A-4AFC9E7C8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41860-94C3-2527-D3DF-C47C8E38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AEABA-83B8-F24F-399C-8598C319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0D99C-6B5C-D669-5CD9-28378DB6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752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876C0-E704-1DCD-9D87-2BEDCCC6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5B88A-03BB-D4FA-360F-12DA840C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30001-F90A-0CA1-179A-8BB1F762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68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E9E5-FD47-1EA6-C5E2-BFCFAAC6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99AD8-B994-1074-0E04-72FDEB33D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68E73-9D11-BEA0-0F98-FA4E6DA17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6E463-363A-8FCE-22BC-3357C1AC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FED01-7002-5C78-79BF-133A171E8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42A91-CDB3-FC42-6789-EFF5A59C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278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D63B-1F44-5540-5770-05848A86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878DC-12B8-16BB-2554-E207F6F41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25D41-E877-CFA4-E042-01271BCB4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DA964-E2F5-E012-6480-6857B23F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56655-9163-049B-5385-6CBB194C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D593A-6DE0-602D-11E3-C33EE8FC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311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F53F-3130-50AC-12D9-B33184FB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86373-152E-1990-9C83-09061CFCC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A3E73-1AAC-B6C8-115C-68559C3F2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B2A1-5F0F-D53E-555D-DA48B49E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AF8C9-47E4-EB4B-51C0-4DC09D56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48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A24B7-6E97-8CBE-B46D-50D65461C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5AE11-1C09-3D13-8FEE-4F484797C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7212D-BBFC-C302-B7C2-01CE7DBC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C0A60-2562-C2E3-4BD9-90FBF365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EDA5B-2279-FB16-9E81-97036392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604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D2DD3-04E0-D2E6-891C-A19BDC3E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BC0DE-E0CB-0F06-3662-E7877199D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263A9-48F0-4CCB-0DB2-2576BFD73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AF122-757D-4E45-B72B-AA831260536A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69FC5-B004-0ACC-74D9-2678DB3CC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917DE-A490-44B3-3723-B323B8ED7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385F9-8199-42B0-AD2D-AE2581D09BE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514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0A5B8-6C0C-91C0-713E-85DFB2E6A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Structure discovery by Transformer networks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F6B7D-E587-20A7-F770-0F153DB60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794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0F2C-7E59-E6A5-2AFC-647AE7B9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Very Short history … deep learning</a:t>
            </a:r>
            <a:endParaRPr lang="nl-NL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4392-6D23-C52D-CC7D-DA8DA22BC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215000"/>
            <a:ext cx="10801200" cy="4428000"/>
          </a:xfrm>
        </p:spPr>
        <p:txBody>
          <a:bodyPr>
            <a:normAutofit fontScale="92500" lnSpcReduction="10000"/>
          </a:bodyPr>
          <a:lstStyle/>
          <a:p>
            <a:r>
              <a:rPr lang="en-US" sz="2500" dirty="0" err="1"/>
              <a:t>MultiLayer</a:t>
            </a:r>
            <a:r>
              <a:rPr lang="en-US" sz="2500" dirty="0"/>
              <a:t> Perceptron: since 1958, Rosenblatt. Since 2009: theory behind training deep models (</a:t>
            </a:r>
            <a:r>
              <a:rPr lang="en-US" sz="2500" dirty="0" err="1"/>
              <a:t>Bengio</a:t>
            </a:r>
            <a:r>
              <a:rPr lang="en-US" sz="2500" dirty="0"/>
              <a:t>, et al.)</a:t>
            </a:r>
          </a:p>
          <a:p>
            <a:r>
              <a:rPr lang="en-US" sz="2500" dirty="0"/>
              <a:t>RNN (recurrent neural networks): (1925, </a:t>
            </a:r>
            <a:r>
              <a:rPr lang="en-US" sz="2500" dirty="0" err="1"/>
              <a:t>Ising</a:t>
            </a:r>
            <a:r>
              <a:rPr lang="en-US" sz="2500" dirty="0"/>
              <a:t>), 1980, various people</a:t>
            </a:r>
          </a:p>
          <a:p>
            <a:r>
              <a:rPr lang="en-US" sz="2500" i="1" dirty="0"/>
              <a:t>Backpropagation: 1982, </a:t>
            </a:r>
            <a:r>
              <a:rPr lang="en-US" sz="2500" i="1" dirty="0" err="1"/>
              <a:t>Werbos</a:t>
            </a:r>
            <a:r>
              <a:rPr lang="en-US" sz="2500" i="1" dirty="0"/>
              <a:t> </a:t>
            </a:r>
            <a:r>
              <a:rPr lang="en-US" sz="2500" i="1" dirty="0" err="1"/>
              <a:t>a.o.</a:t>
            </a:r>
            <a:endParaRPr lang="en-US" sz="2500" i="1" dirty="0"/>
          </a:p>
          <a:p>
            <a:r>
              <a:rPr lang="en-US" sz="2500" dirty="0"/>
              <a:t>LSTM (long-short term memory): 1995, </a:t>
            </a:r>
            <a:r>
              <a:rPr lang="en-US" sz="2500" dirty="0" err="1"/>
              <a:t>Hochreiter</a:t>
            </a:r>
            <a:r>
              <a:rPr lang="en-US" sz="2500" dirty="0"/>
              <a:t> et al.</a:t>
            </a:r>
          </a:p>
          <a:p>
            <a:r>
              <a:rPr lang="en-US" sz="2500" i="1" dirty="0"/>
              <a:t>Word2vec: 2013, </a:t>
            </a:r>
            <a:r>
              <a:rPr lang="en-US" sz="2500" i="1" dirty="0" err="1"/>
              <a:t>Mikolov</a:t>
            </a:r>
            <a:r>
              <a:rPr lang="en-US" sz="2500" i="1" dirty="0"/>
              <a:t>, Google team</a:t>
            </a:r>
          </a:p>
          <a:p>
            <a:r>
              <a:rPr lang="en-US" sz="2500" dirty="0"/>
              <a:t>Sequence to sequence: 2014, </a:t>
            </a:r>
            <a:r>
              <a:rPr lang="en-US" sz="2500" dirty="0" err="1"/>
              <a:t>Sutskever</a:t>
            </a:r>
            <a:r>
              <a:rPr lang="en-US" sz="2500" dirty="0"/>
              <a:t> et al. (now at OpenAI)</a:t>
            </a:r>
          </a:p>
          <a:p>
            <a:r>
              <a:rPr lang="nl-NL" sz="2500" dirty="0" err="1"/>
              <a:t>Transformers</a:t>
            </a:r>
            <a:r>
              <a:rPr lang="nl-NL" sz="2500" dirty="0"/>
              <a:t>: 2017, </a:t>
            </a:r>
            <a:r>
              <a:rPr lang="nl-NL" sz="2500" dirty="0" err="1"/>
              <a:t>Vaswani</a:t>
            </a:r>
            <a:r>
              <a:rPr lang="nl-NL" sz="2500" dirty="0"/>
              <a:t> et al.</a:t>
            </a:r>
          </a:p>
          <a:p>
            <a:r>
              <a:rPr lang="nl-NL" sz="2500" dirty="0"/>
              <a:t>BERT (</a:t>
            </a:r>
            <a:r>
              <a:rPr lang="nl-NL" sz="2500" i="0" dirty="0" err="1">
                <a:solidFill>
                  <a:srgbClr val="202122"/>
                </a:solidFill>
                <a:effectLst/>
              </a:rPr>
              <a:t>Bidirectional</a:t>
            </a:r>
            <a:r>
              <a:rPr lang="nl-NL" sz="2500" i="0" dirty="0">
                <a:solidFill>
                  <a:srgbClr val="202122"/>
                </a:solidFill>
                <a:effectLst/>
              </a:rPr>
              <a:t> Encoder </a:t>
            </a:r>
            <a:r>
              <a:rPr lang="nl-NL" sz="2500" i="0" dirty="0" err="1">
                <a:solidFill>
                  <a:srgbClr val="202122"/>
                </a:solidFill>
                <a:effectLst/>
              </a:rPr>
              <a:t>Representations</a:t>
            </a:r>
            <a:r>
              <a:rPr lang="nl-NL" sz="2500" i="0" dirty="0">
                <a:solidFill>
                  <a:srgbClr val="202122"/>
                </a:solidFill>
                <a:effectLst/>
              </a:rPr>
              <a:t> </a:t>
            </a:r>
            <a:r>
              <a:rPr lang="nl-NL" sz="2500" i="0" dirty="0" err="1">
                <a:solidFill>
                  <a:srgbClr val="202122"/>
                </a:solidFill>
                <a:effectLst/>
              </a:rPr>
              <a:t>from</a:t>
            </a:r>
            <a:r>
              <a:rPr lang="nl-NL" sz="2500" i="0" dirty="0">
                <a:solidFill>
                  <a:srgbClr val="202122"/>
                </a:solidFill>
                <a:effectLst/>
              </a:rPr>
              <a:t> </a:t>
            </a:r>
            <a:r>
              <a:rPr lang="nl-NL" sz="2500" i="0" dirty="0" err="1">
                <a:solidFill>
                  <a:srgbClr val="202122"/>
                </a:solidFill>
                <a:effectLst/>
              </a:rPr>
              <a:t>Transformers</a:t>
            </a:r>
            <a:r>
              <a:rPr lang="nl-NL" sz="2500" i="0" dirty="0">
                <a:solidFill>
                  <a:srgbClr val="202122"/>
                </a:solidFill>
                <a:effectLst/>
              </a:rPr>
              <a:t>), 2018, Google (</a:t>
            </a:r>
            <a:r>
              <a:rPr lang="nl-NL" sz="2500" i="0" dirty="0" err="1">
                <a:solidFill>
                  <a:srgbClr val="202122"/>
                </a:solidFill>
                <a:effectLst/>
              </a:rPr>
              <a:t>and</a:t>
            </a:r>
            <a:r>
              <a:rPr lang="nl-NL" sz="2500" i="0" dirty="0">
                <a:solidFill>
                  <a:srgbClr val="202122"/>
                </a:solidFill>
                <a:effectLst/>
              </a:rPr>
              <a:t> </a:t>
            </a:r>
            <a:r>
              <a:rPr lang="nl-NL" sz="2500" i="0" dirty="0" err="1">
                <a:solidFill>
                  <a:srgbClr val="202122"/>
                </a:solidFill>
                <a:effectLst/>
              </a:rPr>
              <a:t>many</a:t>
            </a:r>
            <a:r>
              <a:rPr lang="nl-NL" sz="2500" i="0" dirty="0">
                <a:solidFill>
                  <a:srgbClr val="202122"/>
                </a:solidFill>
                <a:effectLst/>
              </a:rPr>
              <a:t> </a:t>
            </a:r>
            <a:r>
              <a:rPr lang="nl-NL" sz="2500" i="0" dirty="0" err="1">
                <a:solidFill>
                  <a:srgbClr val="202122"/>
                </a:solidFill>
                <a:effectLst/>
              </a:rPr>
              <a:t>variants</a:t>
            </a:r>
            <a:r>
              <a:rPr lang="nl-NL" sz="2500" i="0" dirty="0">
                <a:solidFill>
                  <a:srgbClr val="202122"/>
                </a:solidFill>
                <a:effectLst/>
              </a:rPr>
              <a:t>)</a:t>
            </a:r>
            <a:endParaRPr lang="nl-NL" sz="2500" dirty="0"/>
          </a:p>
          <a:p>
            <a:r>
              <a:rPr lang="nl-NL" sz="2500" dirty="0"/>
              <a:t>Audio, s2t: Wav2vec2.0, 2020: </a:t>
            </a:r>
            <a:r>
              <a:rPr lang="nl-NL" sz="2500" dirty="0" err="1"/>
              <a:t>Whisper</a:t>
            </a:r>
            <a:r>
              <a:rPr lang="nl-NL" sz="2500" dirty="0"/>
              <a:t>, 2022 (</a:t>
            </a:r>
            <a:r>
              <a:rPr lang="nl-NL" sz="2500" dirty="0" err="1"/>
              <a:t>and</a:t>
            </a:r>
            <a:r>
              <a:rPr lang="nl-NL" sz="2500" dirty="0"/>
              <a:t> </a:t>
            </a:r>
            <a:r>
              <a:rPr lang="nl-NL" sz="2500" dirty="0" err="1"/>
              <a:t>variants</a:t>
            </a:r>
            <a:r>
              <a:rPr lang="nl-NL" sz="2500" dirty="0"/>
              <a:t>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3897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1AAD-ECC1-35D3-208B-42B5FB88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817" y="469373"/>
            <a:ext cx="3430983" cy="7200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One of the KEY papers (2017)</a:t>
            </a:r>
            <a:endParaRPr lang="nl-NL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6BDDA-D0F5-A9AD-E557-7F29C7055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4" t="17343" r="19952" b="1700"/>
          <a:stretch/>
        </p:blipFill>
        <p:spPr>
          <a:xfrm>
            <a:off x="3935760" y="469372"/>
            <a:ext cx="7632849" cy="613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9E91-3ABE-1231-693D-69977222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CB264-985F-269B-2E8E-EC33C77311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23" t="22700" r="12921" b="4851"/>
          <a:stretch/>
        </p:blipFill>
        <p:spPr>
          <a:xfrm>
            <a:off x="170470" y="235049"/>
            <a:ext cx="11614161" cy="662295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16583A-9377-A963-DB82-DA96876E55BE}"/>
              </a:ext>
            </a:extLst>
          </p:cNvPr>
          <p:cNvSpPr txBox="1">
            <a:spLocks/>
          </p:cNvSpPr>
          <p:nvPr/>
        </p:nvSpPr>
        <p:spPr bwMode="gray">
          <a:xfrm>
            <a:off x="864817" y="469373"/>
            <a:ext cx="2638895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1088610" rtl="0" eaLnBrk="1" latinLnBrk="0" hangingPunct="1">
              <a:spcBef>
                <a:spcPct val="0"/>
              </a:spcBef>
              <a:buNone/>
              <a:defRPr sz="1700" b="0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2800" dirty="0"/>
              <a:t>another KEY paper (2022)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379925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5531C-7CE6-B29F-2B1A-8B15E74F19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69" t="9190" r="16521" b="2343"/>
          <a:stretch/>
        </p:blipFill>
        <p:spPr>
          <a:xfrm>
            <a:off x="2241395" y="-4382"/>
            <a:ext cx="6865536" cy="670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7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// Machine learning for Transformers - Explained with language ...">
            <a:extLst>
              <a:ext uri="{FF2B5EF4-FFF2-40B4-BE49-F238E27FC236}">
                <a16:creationId xmlns:a16="http://schemas.microsoft.com/office/drawing/2014/main" id="{AA6F9E36-7033-BC96-2FC2-86CE9FB03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657" y="-11665"/>
            <a:ext cx="5864356" cy="59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392EBB-BF90-599F-EE9A-D71666A93B2C}"/>
              </a:ext>
            </a:extLst>
          </p:cNvPr>
          <p:cNvSpPr txBox="1">
            <a:spLocks/>
          </p:cNvSpPr>
          <p:nvPr/>
        </p:nvSpPr>
        <p:spPr>
          <a:xfrm>
            <a:off x="864817" y="469373"/>
            <a:ext cx="10440000" cy="720000"/>
          </a:xfrm>
          <a:prstGeom prst="rect">
            <a:avLst/>
          </a:prstGeom>
        </p:spPr>
        <p:txBody>
          <a:bodyPr/>
          <a:lstStyle>
            <a:lvl1pPr algn="l" defTabSz="1088610" rtl="0" eaLnBrk="1" latinLnBrk="0" hangingPunct="1">
              <a:spcBef>
                <a:spcPct val="0"/>
              </a:spcBef>
              <a:buNone/>
              <a:defRPr sz="1700" b="0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200" dirty="0"/>
              <a:t>NETWORKS</a:t>
            </a:r>
            <a:endParaRPr lang="nl-NL" sz="3200" dirty="0"/>
          </a:p>
        </p:txBody>
      </p:sp>
      <p:pic>
        <p:nvPicPr>
          <p:cNvPr id="1026" name="Picture 2" descr="Multilayer Perceptrons vs CNN">
            <a:extLst>
              <a:ext uri="{FF2B5EF4-FFF2-40B4-BE49-F238E27FC236}">
                <a16:creationId xmlns:a16="http://schemas.microsoft.com/office/drawing/2014/main" id="{05AF062C-1781-2AF2-9850-70F0F1685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79" y="1844824"/>
            <a:ext cx="4002979" cy="263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990F54-1361-B8CE-51A2-71097872000D}"/>
              </a:ext>
            </a:extLst>
          </p:cNvPr>
          <p:cNvSpPr txBox="1"/>
          <p:nvPr/>
        </p:nvSpPr>
        <p:spPr>
          <a:xfrm>
            <a:off x="8832304" y="5982059"/>
            <a:ext cx="224099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/>
              <a:t>(From the Attention paper)</a:t>
            </a:r>
            <a:endParaRPr lang="nl-NL" sz="1400" dirty="0" err="1"/>
          </a:p>
        </p:txBody>
      </p:sp>
    </p:spTree>
    <p:extLst>
      <p:ext uri="{BB962C8B-B14F-4D97-AF65-F5344CB8AC3E}">
        <p14:creationId xmlns:p14="http://schemas.microsoft.com/office/powerpoint/2010/main" val="195935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E69B-70ED-4A86-C755-ACD58CAF3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Vectors and networks</a:t>
            </a:r>
            <a:endParaRPr lang="nl-NL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D8D29-7A46-46FD-31A4-050758DEEB9D}"/>
              </a:ext>
            </a:extLst>
          </p:cNvPr>
          <p:cNvSpPr/>
          <p:nvPr/>
        </p:nvSpPr>
        <p:spPr>
          <a:xfrm>
            <a:off x="864817" y="4437112"/>
            <a:ext cx="3096344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Word sequences</a:t>
            </a:r>
          </a:p>
          <a:p>
            <a:pPr algn="ctr"/>
            <a:r>
              <a:rPr lang="en-US" dirty="0"/>
              <a:t>Or audio</a:t>
            </a:r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E954EA-4C74-83B2-07C8-1A322D469DA4}"/>
              </a:ext>
            </a:extLst>
          </p:cNvPr>
          <p:cNvSpPr/>
          <p:nvPr/>
        </p:nvSpPr>
        <p:spPr>
          <a:xfrm>
            <a:off x="4393209" y="4437112"/>
            <a:ext cx="3096344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sequences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CB72E-C0CC-E1A9-8D43-D257B1408E9D}"/>
              </a:ext>
            </a:extLst>
          </p:cNvPr>
          <p:cNvSpPr/>
          <p:nvPr/>
        </p:nvSpPr>
        <p:spPr>
          <a:xfrm>
            <a:off x="4393209" y="2816932"/>
            <a:ext cx="3096344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Networks</a:t>
            </a:r>
          </a:p>
          <a:p>
            <a:pPr algn="ctr"/>
            <a:r>
              <a:rPr lang="en-US" dirty="0"/>
              <a:t>(of any kind)</a:t>
            </a:r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AA0570-E2C0-DC05-1543-D435FA5153ED}"/>
              </a:ext>
            </a:extLst>
          </p:cNvPr>
          <p:cNvSpPr/>
          <p:nvPr/>
        </p:nvSpPr>
        <p:spPr>
          <a:xfrm>
            <a:off x="4393209" y="1189892"/>
            <a:ext cx="3096344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sequences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5B4C17-22C4-8431-66C6-5591B8B5C6B7}"/>
              </a:ext>
            </a:extLst>
          </p:cNvPr>
          <p:cNvSpPr/>
          <p:nvPr/>
        </p:nvSpPr>
        <p:spPr>
          <a:xfrm>
            <a:off x="8616280" y="1189373"/>
            <a:ext cx="3096344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Tokens sequences</a:t>
            </a:r>
          </a:p>
          <a:p>
            <a:pPr algn="ctr"/>
            <a:r>
              <a:rPr lang="en-US" dirty="0"/>
              <a:t>(words, graphemes, phonemes) + activations</a:t>
            </a:r>
            <a:endParaRPr lang="nl-N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212BA3-BE28-4A5C-CE29-BF38AC87ADCC}"/>
              </a:ext>
            </a:extLst>
          </p:cNvPr>
          <p:cNvCxnSpPr>
            <a:stCxn id="3" idx="3"/>
          </p:cNvCxnSpPr>
          <p:nvPr/>
        </p:nvCxnSpPr>
        <p:spPr>
          <a:xfrm>
            <a:off x="3961161" y="504918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2A77E6-66D4-46C5-78E6-D13A4532850D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5941381" y="4041068"/>
            <a:ext cx="0" cy="396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5F5D92-1753-A3C9-198E-F11FD5D8833B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5941381" y="2414028"/>
            <a:ext cx="0" cy="40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F9820F-0771-0E17-FF7B-99BD13A5E8A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7489553" y="1801441"/>
            <a:ext cx="1126727" cy="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26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84BB-7A14-D33A-A068-C13821CA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F470-D179-6DB0-8391-2E083DEC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SFMs and LLMs – see e.g. Verdini et al. (2025)</a:t>
            </a:r>
            <a:endParaRPr lang="nl-NL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B24EE-0DC5-E778-CE96-C19B3A9CFA54}"/>
              </a:ext>
            </a:extLst>
          </p:cNvPr>
          <p:cNvSpPr/>
          <p:nvPr/>
        </p:nvSpPr>
        <p:spPr>
          <a:xfrm>
            <a:off x="326338" y="4752072"/>
            <a:ext cx="1437478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5C6F4-5460-60BF-EC4D-DE7033B19BAC}"/>
              </a:ext>
            </a:extLst>
          </p:cNvPr>
          <p:cNvSpPr/>
          <p:nvPr/>
        </p:nvSpPr>
        <p:spPr>
          <a:xfrm>
            <a:off x="2208809" y="4752072"/>
            <a:ext cx="2068551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sequences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E9CCD-0EB9-8FF2-E987-824FCDB261E6}"/>
              </a:ext>
            </a:extLst>
          </p:cNvPr>
          <p:cNvSpPr/>
          <p:nvPr/>
        </p:nvSpPr>
        <p:spPr>
          <a:xfrm>
            <a:off x="2208809" y="3131892"/>
            <a:ext cx="2068551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SFM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B554FB-75F2-FF22-5757-33C88B8EF939}"/>
              </a:ext>
            </a:extLst>
          </p:cNvPr>
          <p:cNvSpPr/>
          <p:nvPr/>
        </p:nvSpPr>
        <p:spPr>
          <a:xfrm>
            <a:off x="2208809" y="1504852"/>
            <a:ext cx="2068551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sequences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F23A8A-6A93-D2C4-2ADC-9C26303882A4}"/>
              </a:ext>
            </a:extLst>
          </p:cNvPr>
          <p:cNvSpPr/>
          <p:nvPr/>
        </p:nvSpPr>
        <p:spPr>
          <a:xfrm>
            <a:off x="9088583" y="5013960"/>
            <a:ext cx="2446704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 token prediction</a:t>
            </a:r>
          </a:p>
          <a:p>
            <a:pPr algn="ctr"/>
            <a:r>
              <a:rPr lang="en-US" dirty="0"/>
              <a:t>+ activation (p())</a:t>
            </a:r>
            <a:endParaRPr lang="nl-N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E3DEBA-737C-5F0E-981F-2CF1E7F0F55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763816" y="5364140"/>
            <a:ext cx="20909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0059C-8EC9-C0EE-31CC-F3FD0A4EFCD5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3243085" y="4356028"/>
            <a:ext cx="0" cy="396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9DD0B1-96A5-E830-F030-7A9580E4D72E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3243085" y="2728988"/>
            <a:ext cx="0" cy="40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82D4AC-8A7A-C191-23BD-99F4E8510B63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 flipV="1">
            <a:off x="4277360" y="2085424"/>
            <a:ext cx="2053373" cy="31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2AACD72-4601-7862-19DB-42244C0B10E8}"/>
              </a:ext>
            </a:extLst>
          </p:cNvPr>
          <p:cNvSpPr/>
          <p:nvPr/>
        </p:nvSpPr>
        <p:spPr>
          <a:xfrm>
            <a:off x="5311636" y="3390032"/>
            <a:ext cx="2068551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prompt</a:t>
            </a:r>
            <a:endParaRPr lang="nl-N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1D0C7B-4236-722A-9963-DCC37DB4DFE8}"/>
              </a:ext>
            </a:extLst>
          </p:cNvPr>
          <p:cNvSpPr/>
          <p:nvPr/>
        </p:nvSpPr>
        <p:spPr>
          <a:xfrm>
            <a:off x="9285249" y="2495150"/>
            <a:ext cx="2068551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  <a:endParaRPr lang="nl-N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02CE91-84D5-E238-B542-1EA4BD5756BE}"/>
              </a:ext>
            </a:extLst>
          </p:cNvPr>
          <p:cNvSpPr/>
          <p:nvPr/>
        </p:nvSpPr>
        <p:spPr>
          <a:xfrm>
            <a:off x="6330733" y="1473356"/>
            <a:ext cx="2068551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 in LLM vector space</a:t>
            </a:r>
            <a:endParaRPr lang="nl-N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987B69-B5AA-41D0-1103-4A94DC912F37}"/>
              </a:ext>
            </a:extLst>
          </p:cNvPr>
          <p:cNvCxnSpPr>
            <a:cxnSpLocks/>
            <a:stCxn id="22" idx="2"/>
            <a:endCxn id="7" idx="0"/>
          </p:cNvCxnSpPr>
          <p:nvPr/>
        </p:nvCxnSpPr>
        <p:spPr>
          <a:xfrm flipH="1">
            <a:off x="10311935" y="3719286"/>
            <a:ext cx="7590" cy="1294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2A14F4D-8B52-B097-EE9F-DC939706CD75}"/>
              </a:ext>
            </a:extLst>
          </p:cNvPr>
          <p:cNvCxnSpPr>
            <a:stCxn id="21" idx="0"/>
            <a:endCxn id="22" idx="1"/>
          </p:cNvCxnSpPr>
          <p:nvPr/>
        </p:nvCxnSpPr>
        <p:spPr>
          <a:xfrm rot="5400000" flipH="1" flipV="1">
            <a:off x="7674173" y="1778957"/>
            <a:ext cx="282814" cy="2939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3591FA5-54AA-23E9-39C9-6F2749CD4C7E}"/>
              </a:ext>
            </a:extLst>
          </p:cNvPr>
          <p:cNvCxnSpPr>
            <a:cxnSpLocks/>
            <a:stCxn id="23" idx="3"/>
            <a:endCxn id="22" idx="0"/>
          </p:cNvCxnSpPr>
          <p:nvPr/>
        </p:nvCxnSpPr>
        <p:spPr>
          <a:xfrm>
            <a:off x="8399284" y="2085424"/>
            <a:ext cx="1920241" cy="4097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3A65A29-DE94-B46A-420F-224B0EFCE1A5}"/>
              </a:ext>
            </a:extLst>
          </p:cNvPr>
          <p:cNvSpPr/>
          <p:nvPr/>
        </p:nvSpPr>
        <p:spPr>
          <a:xfrm>
            <a:off x="6575039" y="4772576"/>
            <a:ext cx="2068551" cy="1224136"/>
          </a:xfrm>
          <a:prstGeom prst="rect">
            <a:avLst/>
          </a:prstGeom>
          <a:solidFill>
            <a:srgbClr val="E3000B">
              <a:alpha val="6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Pre-context</a:t>
            </a:r>
          </a:p>
          <a:p>
            <a:pPr algn="ctr"/>
            <a:r>
              <a:rPr lang="en-US" dirty="0"/>
              <a:t>(“co-text”)</a:t>
            </a:r>
            <a:endParaRPr lang="nl-NL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1D5105D-BEB8-5F1E-AEAB-F6B57F505A06}"/>
              </a:ext>
            </a:extLst>
          </p:cNvPr>
          <p:cNvCxnSpPr>
            <a:cxnSpLocks/>
            <a:stCxn id="11" idx="0"/>
            <a:endCxn id="22" idx="1"/>
          </p:cNvCxnSpPr>
          <p:nvPr/>
        </p:nvCxnSpPr>
        <p:spPr>
          <a:xfrm rot="5400000" flipH="1" flipV="1">
            <a:off x="7614603" y="3101930"/>
            <a:ext cx="1665358" cy="16759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85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3539-2388-2D76-BAE4-6D620BE3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DO WE GET THESE VECTORS?</a:t>
            </a:r>
            <a:endParaRPr lang="nl-NL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A03A1-2BAE-20BF-5396-0783C9C5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Large text -&gt; word2vec -&gt; vectors</a:t>
            </a:r>
            <a:r>
              <a:rPr lang="en-US" sz="3200" dirty="0"/>
              <a:t> (one vector per word)</a:t>
            </a:r>
          </a:p>
          <a:p>
            <a:pPr lvl="1"/>
            <a:r>
              <a:rPr lang="en-US" sz="2800" dirty="0"/>
              <a:t>One per orthographic form, context-</a:t>
            </a:r>
            <a:r>
              <a:rPr lang="en-US" sz="2800" dirty="0" err="1"/>
              <a:t>indep</a:t>
            </a:r>
            <a:r>
              <a:rPr lang="en-US" sz="2800" dirty="0"/>
              <a:t>.</a:t>
            </a:r>
          </a:p>
          <a:p>
            <a:pPr lvl="1"/>
            <a:r>
              <a:rPr lang="en-US" sz="2800" dirty="0"/>
              <a:t>Context-dependent, e.g. homophones (</a:t>
            </a:r>
            <a:r>
              <a:rPr lang="en-US" sz="2800" i="1" dirty="0"/>
              <a:t>Eng.</a:t>
            </a:r>
            <a:r>
              <a:rPr lang="en-US" sz="2800" dirty="0"/>
              <a:t>) bank – bank</a:t>
            </a:r>
          </a:p>
          <a:p>
            <a:pPr lvl="1"/>
            <a:r>
              <a:rPr lang="en-US" sz="2800" dirty="0"/>
              <a:t>(not the scope of this course)</a:t>
            </a:r>
          </a:p>
          <a:p>
            <a:r>
              <a:rPr lang="en-US" sz="3200" dirty="0">
                <a:solidFill>
                  <a:srgbClr val="C00000"/>
                </a:solidFill>
              </a:rPr>
              <a:t>Audio -&gt; feature extraction -&gt; vectors</a:t>
            </a:r>
          </a:p>
          <a:p>
            <a:pPr lvl="1"/>
            <a:r>
              <a:rPr lang="en-US" sz="2800" dirty="0"/>
              <a:t>“Spectral slices”</a:t>
            </a:r>
          </a:p>
          <a:p>
            <a:pPr lvl="1"/>
            <a:r>
              <a:rPr lang="en-US" sz="2800" dirty="0"/>
              <a:t>Typically one vector per 10 </a:t>
            </a:r>
            <a:r>
              <a:rPr lang="en-US" sz="2800" dirty="0" err="1"/>
              <a:t>ms</a:t>
            </a:r>
            <a:r>
              <a:rPr lang="en-US" sz="2800" dirty="0"/>
              <a:t> or 20 </a:t>
            </a:r>
            <a:r>
              <a:rPr lang="en-US" sz="2800" dirty="0" err="1"/>
              <a:t>ms</a:t>
            </a:r>
            <a:endParaRPr lang="en-US" sz="28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055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594D-B578-D760-5C03-E5762C69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Understanding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why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self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-attention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works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, in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particular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the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dotprot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construction</a:t>
            </a:r>
            <a:endParaRPr lang="nl-NL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B787-BDEF-F7D7-AF34-DD30C52C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556792"/>
            <a:ext cx="10440000" cy="4428000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/>
              <a:t>See https://peterbloem.nl/blog/transformers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C5DD6-B021-AA7B-98A0-D8CD042FB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29" y="2488093"/>
            <a:ext cx="96297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90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594D-B578-D760-5C03-E5762C69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Understanding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why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self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-attention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works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, in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particular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the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dotprot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construction</a:t>
            </a:r>
            <a:endParaRPr lang="nl-NL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B787-BDEF-F7D7-AF34-DD30C52C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556792"/>
            <a:ext cx="10440000" cy="4428000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/>
              <a:t>See https://peterbloem.nl/blog/transformers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C5DD6-B021-AA7B-98A0-D8CD042FB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29" y="2488093"/>
            <a:ext cx="9629775" cy="39052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1FF69-2923-4C29-EBD8-95508C5AB801}"/>
              </a:ext>
            </a:extLst>
          </p:cNvPr>
          <p:cNvCxnSpPr/>
          <p:nvPr/>
        </p:nvCxnSpPr>
        <p:spPr>
          <a:xfrm flipH="1" flipV="1">
            <a:off x="4079776" y="4725144"/>
            <a:ext cx="2952328" cy="133165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F5B26F-DF1B-7EF2-2D70-780192AC1C70}"/>
              </a:ext>
            </a:extLst>
          </p:cNvPr>
          <p:cNvCxnSpPr>
            <a:cxnSpLocks/>
          </p:cNvCxnSpPr>
          <p:nvPr/>
        </p:nvCxnSpPr>
        <p:spPr>
          <a:xfrm flipH="1">
            <a:off x="6096000" y="3429000"/>
            <a:ext cx="28803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293443-E93A-0C26-00C3-6566B3830F44}"/>
              </a:ext>
            </a:extLst>
          </p:cNvPr>
          <p:cNvSpPr txBox="1"/>
          <p:nvPr/>
        </p:nvSpPr>
        <p:spPr>
          <a:xfrm>
            <a:off x="7246593" y="5810578"/>
            <a:ext cx="94737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/>
              <a:t>“ask”</a:t>
            </a:r>
            <a:endParaRPr lang="nl-NL" sz="3200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1F97B-89BF-43C5-D2BE-DB2DA224BA3B}"/>
              </a:ext>
            </a:extLst>
          </p:cNvPr>
          <p:cNvSpPr txBox="1"/>
          <p:nvPr/>
        </p:nvSpPr>
        <p:spPr>
          <a:xfrm>
            <a:off x="9099651" y="3152581"/>
            <a:ext cx="174887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/>
              <a:t>“provide”</a:t>
            </a:r>
            <a:endParaRPr lang="nl-NL" sz="3200" dirty="0" err="1"/>
          </a:p>
        </p:txBody>
      </p:sp>
    </p:spTree>
    <p:extLst>
      <p:ext uri="{BB962C8B-B14F-4D97-AF65-F5344CB8AC3E}">
        <p14:creationId xmlns:p14="http://schemas.microsoft.com/office/powerpoint/2010/main" val="3507041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594D-B578-D760-5C03-E5762C69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Understanding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why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self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-attention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works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, in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particular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the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dotprot</a:t>
            </a:r>
            <a:r>
              <a:rPr lang="nl-NL" sz="2800" b="1" i="0" dirty="0">
                <a:solidFill>
                  <a:srgbClr val="C00000"/>
                </a:solidFill>
                <a:effectLst/>
                <a:latin typeface="+mn-lt"/>
              </a:rPr>
              <a:t> </a:t>
            </a:r>
            <a:r>
              <a:rPr lang="nl-NL" sz="2800" b="1" i="0" dirty="0" err="1">
                <a:solidFill>
                  <a:srgbClr val="C00000"/>
                </a:solidFill>
                <a:effectLst/>
                <a:latin typeface="+mn-lt"/>
              </a:rPr>
              <a:t>consTruction</a:t>
            </a:r>
            <a:br>
              <a:rPr lang="nl-NL" b="1" i="0" dirty="0">
                <a:solidFill>
                  <a:srgbClr val="000000"/>
                </a:solidFill>
                <a:effectLst/>
                <a:latin typeface="+mn-lt"/>
              </a:rPr>
            </a:br>
            <a:endParaRPr lang="nl-NL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B787-BDEF-F7D7-AF34-DD30C52C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556792"/>
            <a:ext cx="10440000" cy="4428000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/>
              <a:t>See https://peterbloem.nl/blog/transformers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C5DD6-B021-AA7B-98A0-D8CD042FB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29" y="2488093"/>
            <a:ext cx="9629775" cy="39052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1FF69-2923-4C29-EBD8-95508C5AB801}"/>
              </a:ext>
            </a:extLst>
          </p:cNvPr>
          <p:cNvCxnSpPr/>
          <p:nvPr/>
        </p:nvCxnSpPr>
        <p:spPr>
          <a:xfrm flipH="1" flipV="1">
            <a:off x="4079776" y="4725144"/>
            <a:ext cx="2952328" cy="133165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F5B26F-DF1B-7EF2-2D70-780192AC1C70}"/>
              </a:ext>
            </a:extLst>
          </p:cNvPr>
          <p:cNvCxnSpPr>
            <a:cxnSpLocks/>
          </p:cNvCxnSpPr>
          <p:nvPr/>
        </p:nvCxnSpPr>
        <p:spPr>
          <a:xfrm flipH="1">
            <a:off x="6096000" y="3429000"/>
            <a:ext cx="28803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293443-E93A-0C26-00C3-6566B3830F44}"/>
              </a:ext>
            </a:extLst>
          </p:cNvPr>
          <p:cNvSpPr txBox="1"/>
          <p:nvPr/>
        </p:nvSpPr>
        <p:spPr>
          <a:xfrm>
            <a:off x="7246593" y="5810578"/>
            <a:ext cx="235801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/>
              <a:t>“ask”   </a:t>
            </a:r>
            <a:r>
              <a:rPr lang="en-US" sz="3200" dirty="0">
                <a:solidFill>
                  <a:srgbClr val="C00000"/>
                </a:solidFill>
              </a:rPr>
              <a:t>query</a:t>
            </a:r>
            <a:endParaRPr lang="nl-NL" sz="3200" dirty="0" err="1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1F97B-89BF-43C5-D2BE-DB2DA224BA3B}"/>
              </a:ext>
            </a:extLst>
          </p:cNvPr>
          <p:cNvSpPr txBox="1"/>
          <p:nvPr/>
        </p:nvSpPr>
        <p:spPr>
          <a:xfrm>
            <a:off x="9099651" y="3152581"/>
            <a:ext cx="272350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/>
              <a:t>“provide”   </a:t>
            </a:r>
            <a:r>
              <a:rPr lang="en-US" sz="3200" dirty="0">
                <a:solidFill>
                  <a:srgbClr val="C00000"/>
                </a:solidFill>
              </a:rPr>
              <a:t>key</a:t>
            </a:r>
            <a:endParaRPr lang="nl-NL" sz="3200" dirty="0" err="1">
              <a:solidFill>
                <a:srgbClr val="C0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70D8FC9-BAEB-6010-2C2B-0F27DA5A21C1}"/>
              </a:ext>
            </a:extLst>
          </p:cNvPr>
          <p:cNvCxnSpPr>
            <a:cxnSpLocks/>
          </p:cNvCxnSpPr>
          <p:nvPr/>
        </p:nvCxnSpPr>
        <p:spPr>
          <a:xfrm flipH="1" flipV="1">
            <a:off x="8832304" y="4725144"/>
            <a:ext cx="267347" cy="1085434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EE5942-DC06-3375-2CAB-2308255E906D}"/>
              </a:ext>
            </a:extLst>
          </p:cNvPr>
          <p:cNvCxnSpPr>
            <a:cxnSpLocks/>
          </p:cNvCxnSpPr>
          <p:nvPr/>
        </p:nvCxnSpPr>
        <p:spPr>
          <a:xfrm flipH="1">
            <a:off x="9252051" y="3645024"/>
            <a:ext cx="1740493" cy="648072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8FB282-344F-6AC0-5CBE-D7C141721EDF}"/>
              </a:ext>
            </a:extLst>
          </p:cNvPr>
          <p:cNvSpPr txBox="1"/>
          <p:nvPr/>
        </p:nvSpPr>
        <p:spPr>
          <a:xfrm>
            <a:off x="10177391" y="4852362"/>
            <a:ext cx="14446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=</a:t>
            </a:r>
            <a:r>
              <a:rPr lang="en-US" sz="4800" dirty="0" err="1">
                <a:solidFill>
                  <a:srgbClr val="C00000"/>
                </a:solidFill>
              </a:rPr>
              <a:t>u</a:t>
            </a:r>
            <a:r>
              <a:rPr lang="en-US" sz="4800" baseline="30000" dirty="0" err="1">
                <a:solidFill>
                  <a:srgbClr val="C00000"/>
                </a:solidFill>
              </a:rPr>
              <a:t>t</a:t>
            </a:r>
            <a:r>
              <a:rPr lang="en-US" sz="4800" dirty="0" err="1">
                <a:solidFill>
                  <a:srgbClr val="C00000"/>
                </a:solidFill>
              </a:rPr>
              <a:t>m</a:t>
            </a:r>
            <a:endParaRPr lang="nl-NL" sz="4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088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5AD1-9844-B542-9986-34DD7D94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 practice, attention is a bit more complex</a:t>
            </a:r>
            <a:endParaRPr lang="nl-NL" sz="2800" dirty="0"/>
          </a:p>
        </p:txBody>
      </p:sp>
      <p:pic>
        <p:nvPicPr>
          <p:cNvPr id="1026" name="Picture 2" descr="Symmetry | Free Full-Text | Deep-Learning Steganalysis for Removing ...">
            <a:extLst>
              <a:ext uri="{FF2B5EF4-FFF2-40B4-BE49-F238E27FC236}">
                <a16:creationId xmlns:a16="http://schemas.microsoft.com/office/drawing/2014/main" id="{4FC76435-D6EF-C546-1EC4-4B1ECAD92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276350"/>
            <a:ext cx="106299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320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 Transformer?. An Introduction to Transformers and… | by ...">
            <a:extLst>
              <a:ext uri="{FF2B5EF4-FFF2-40B4-BE49-F238E27FC236}">
                <a16:creationId xmlns:a16="http://schemas.microsoft.com/office/drawing/2014/main" id="{BEB32756-9409-D344-C9AB-A1C881890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0"/>
            <a:ext cx="11709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954455-74A8-D25B-7204-32DFCA8BF49C}"/>
              </a:ext>
            </a:extLst>
          </p:cNvPr>
          <p:cNvSpPr txBox="1">
            <a:spLocks/>
          </p:cNvSpPr>
          <p:nvPr/>
        </p:nvSpPr>
        <p:spPr bwMode="gray">
          <a:xfrm>
            <a:off x="861572" y="381000"/>
            <a:ext cx="10440000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1088610" rtl="0" eaLnBrk="1" latinLnBrk="0" hangingPunct="1">
              <a:spcBef>
                <a:spcPct val="0"/>
              </a:spcBef>
              <a:buNone/>
              <a:defRPr sz="1700" b="0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2800" dirty="0"/>
              <a:t>Attention paper</a:t>
            </a:r>
            <a:endParaRPr lang="nl-NL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B4D54B-92AF-711B-C9B6-A620DDBCAF0F}"/>
              </a:ext>
            </a:extLst>
          </p:cNvPr>
          <p:cNvSpPr/>
          <p:nvPr/>
        </p:nvSpPr>
        <p:spPr>
          <a:xfrm>
            <a:off x="7104112" y="4581128"/>
            <a:ext cx="2880320" cy="936104"/>
          </a:xfrm>
          <a:prstGeom prst="ellipse">
            <a:avLst/>
          </a:prstGeom>
          <a:solidFill>
            <a:srgbClr val="E3000B">
              <a:alpha val="25098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4C11DE3-C7DA-8EB1-2E9A-D95A9DA2D2CD}"/>
              </a:ext>
            </a:extLst>
          </p:cNvPr>
          <p:cNvSpPr/>
          <p:nvPr/>
        </p:nvSpPr>
        <p:spPr>
          <a:xfrm>
            <a:off x="2308746" y="4113076"/>
            <a:ext cx="2880320" cy="936104"/>
          </a:xfrm>
          <a:prstGeom prst="ellipse">
            <a:avLst/>
          </a:prstGeom>
          <a:solidFill>
            <a:srgbClr val="E3000B">
              <a:alpha val="25098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5201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eural networks - What exactly are keys, queries, and values in ...">
            <a:extLst>
              <a:ext uri="{FF2B5EF4-FFF2-40B4-BE49-F238E27FC236}">
                <a16:creationId xmlns:a16="http://schemas.microsoft.com/office/drawing/2014/main" id="{6C34C89B-D46C-745A-D43F-99F205DA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485775"/>
            <a:ext cx="9972675" cy="58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739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935F-D89C-0919-8115-7063A542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3CE67-485C-CF24-165F-E2E4E5482A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13" t="34250" r="18818" b="11150"/>
          <a:stretch/>
        </p:blipFill>
        <p:spPr>
          <a:xfrm>
            <a:off x="389735" y="2276872"/>
            <a:ext cx="5790983" cy="3312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BBE35D-82AE-AED7-5772-960C09889B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65" t="43700" r="13362" b="34250"/>
          <a:stretch/>
        </p:blipFill>
        <p:spPr>
          <a:xfrm>
            <a:off x="767408" y="260648"/>
            <a:ext cx="7128793" cy="1512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D553EE-ACE6-5076-466D-F22F821C4B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97" t="35300" r="12951" b="6844"/>
          <a:stretch/>
        </p:blipFill>
        <p:spPr>
          <a:xfrm>
            <a:off x="6321888" y="2276872"/>
            <a:ext cx="5790983" cy="38913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0EAABB9-698C-0B7D-7087-45128E4D3371}"/>
              </a:ext>
            </a:extLst>
          </p:cNvPr>
          <p:cNvSpPr/>
          <p:nvPr/>
        </p:nvSpPr>
        <p:spPr>
          <a:xfrm>
            <a:off x="2351584" y="3573016"/>
            <a:ext cx="1224136" cy="1080120"/>
          </a:xfrm>
          <a:prstGeom prst="ellipse">
            <a:avLst/>
          </a:prstGeom>
          <a:solidFill>
            <a:srgbClr val="E3000B">
              <a:alpha val="2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11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L Text classification: How to guide – surgathon">
            <a:extLst>
              <a:ext uri="{FF2B5EF4-FFF2-40B4-BE49-F238E27FC236}">
                <a16:creationId xmlns:a16="http://schemas.microsoft.com/office/drawing/2014/main" id="{07A291AB-290F-E334-593A-39AF1B561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850"/>
            <a:ext cx="12192000" cy="468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FC1EB54-71D6-CE3B-9F1C-5CB5A0BB38E8}"/>
              </a:ext>
            </a:extLst>
          </p:cNvPr>
          <p:cNvSpPr txBox="1">
            <a:spLocks/>
          </p:cNvSpPr>
          <p:nvPr/>
        </p:nvSpPr>
        <p:spPr>
          <a:xfrm>
            <a:off x="864817" y="469373"/>
            <a:ext cx="10440000" cy="720000"/>
          </a:xfrm>
          <a:prstGeom prst="rect">
            <a:avLst/>
          </a:prstGeom>
        </p:spPr>
        <p:txBody>
          <a:bodyPr/>
          <a:lstStyle>
            <a:lvl1pPr algn="l" defTabSz="1088610" rtl="0" eaLnBrk="1" latinLnBrk="0" hangingPunct="1">
              <a:spcBef>
                <a:spcPct val="0"/>
              </a:spcBef>
              <a:buNone/>
              <a:defRPr sz="1700" b="0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200" dirty="0"/>
              <a:t>Words as vectors (word EMBEDDINGs)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E7422-87B5-EAAD-382D-DF54703AA163}"/>
              </a:ext>
            </a:extLst>
          </p:cNvPr>
          <p:cNvSpPr txBox="1"/>
          <p:nvPr/>
        </p:nvSpPr>
        <p:spPr>
          <a:xfrm>
            <a:off x="849229" y="5589240"/>
            <a:ext cx="2143215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Dimension??</a:t>
            </a:r>
          </a:p>
          <a:p>
            <a:r>
              <a:rPr lang="en-US" sz="1800" dirty="0">
                <a:solidFill>
                  <a:srgbClr val="C00000"/>
                </a:solidFill>
              </a:rPr>
              <a:t>100, 300 (word2vec)</a:t>
            </a:r>
          </a:p>
          <a:p>
            <a:r>
              <a:rPr lang="en-US" sz="1800" dirty="0">
                <a:solidFill>
                  <a:srgbClr val="C00000"/>
                </a:solidFill>
              </a:rPr>
              <a:t>768 (BERT, …)</a:t>
            </a:r>
          </a:p>
          <a:p>
            <a:r>
              <a:rPr lang="en-US" sz="1800" dirty="0">
                <a:solidFill>
                  <a:srgbClr val="C00000"/>
                </a:solidFill>
              </a:rPr>
              <a:t>1024 (Wav2vec2.0)</a:t>
            </a:r>
            <a:endParaRPr lang="nl-NL" sz="18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70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25AA-A265-67B4-5A16-6931B9B2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C8BA3-0E95-2833-9BFD-CC1580411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We use Transformers every day</a:t>
            </a:r>
          </a:p>
          <a:p>
            <a:endParaRPr lang="en-US" b="0" i="0" dirty="0"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Transformer-based models are topic of investigation in multiple research directions, suc</a:t>
            </a:r>
            <a:r>
              <a:rPr lang="en-US" dirty="0">
                <a:latin typeface="Arial" panose="020B0604020202020204" pitchFamily="34" charset="0"/>
              </a:rPr>
              <a:t>h as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Explainability (</a:t>
            </a:r>
            <a:r>
              <a:rPr lang="en-US" b="0" i="0" dirty="0" err="1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interpretabilty</a:t>
            </a:r>
            <a:r>
              <a:rPr 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– goes further)</a:t>
            </a:r>
          </a:p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</a:rPr>
              <a:t>Approximation theory</a:t>
            </a:r>
          </a:p>
          <a:p>
            <a:r>
              <a:rPr 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Linguistics</a:t>
            </a:r>
          </a:p>
          <a:p>
            <a:pPr marL="0" indent="0">
              <a:buNone/>
            </a:pPr>
            <a:endParaRPr lang="en-US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737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A341-9C03-9A4D-88ED-1F4A9DCB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17273-DA33-AE09-039E-30C339C4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</a:rPr>
              <a:t>E</a:t>
            </a:r>
            <a:r>
              <a:rPr 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xplainability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addressing the question to what extent decisions by Deep Neural Networks (DNNs) can be ’explained’ and understood. 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The ’classical’ techniques (probing, feature attribution, integrated gradients, LIME, SHAP) appear often less useful than hoped in Transformer-based models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Mechanistic Interpretability is a novel and expanding group of techniques (’computational lenses’) with the goal to understand which decisions are made in the network, to aid formal verification and human interpretability.</a:t>
            </a:r>
            <a:br>
              <a:rPr lang="en-US" dirty="0"/>
            </a:b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09828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1">
            <a:extLst>
              <a:ext uri="{FF2B5EF4-FFF2-40B4-BE49-F238E27FC236}">
                <a16:creationId xmlns:a16="http://schemas.microsoft.com/office/drawing/2014/main" id="{CA331AD3-6268-4887-E10F-201363F14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330" y="2271311"/>
            <a:ext cx="8015189" cy="376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hangingPunct="0"/>
            <a:r>
              <a:rPr lang="en-NL" altLang="en-NL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LIME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Local Interpretable Model-agnostic Explanations </a:t>
            </a:r>
          </a:p>
          <a:p>
            <a:pPr marL="342900" indent="-342900" defTabSz="685800" eaLnBrk="0" hangingPunct="0">
              <a:buFont typeface="Arial" panose="020B0604020202020204" pitchFamily="34" charset="0"/>
              <a:buChar char="•"/>
            </a:pPr>
            <a:r>
              <a:rPr lang="en-NL" altLang="en-NL" sz="2400" dirty="0">
                <a:latin typeface="Arial" panose="020B0604020202020204" pitchFamily="34" charset="0"/>
                <a:cs typeface="Arial" panose="020B0604020202020204" pitchFamily="34" charset="0"/>
              </a:rPr>
              <a:t>approximates </a:t>
            </a:r>
            <a:r>
              <a:rPr lang="en-NL" altLang="en-NL" sz="2400" dirty="0">
                <a:latin typeface="Arial" panose="020B0604020202020204" pitchFamily="34" charset="0"/>
              </a:rPr>
              <a:t>the model locally with a simple</a:t>
            </a:r>
            <a:r>
              <a:rPr lang="en-GB" altLang="en-NL" sz="2400" dirty="0">
                <a:latin typeface="Arial" panose="020B0604020202020204" pitchFamily="34" charset="0"/>
              </a:rPr>
              <a:t>r model</a:t>
            </a:r>
            <a:r>
              <a:rPr lang="en-NL" altLang="en-NL" sz="2400" dirty="0">
                <a:latin typeface="Arial" panose="020B0604020202020204" pitchFamily="34" charset="0"/>
              </a:rPr>
              <a:t> to explain predictions.</a:t>
            </a:r>
            <a:endParaRPr lang="en-GB" altLang="en-NL" sz="2400" dirty="0">
              <a:latin typeface="Arial" panose="020B0604020202020204" pitchFamily="34" charset="0"/>
            </a:endParaRPr>
          </a:p>
          <a:p>
            <a:pPr marL="342900" indent="-342900" defTabSz="685800" eaLnBrk="0" hangingPunct="0">
              <a:buFont typeface="Arial" panose="020B0604020202020204" pitchFamily="34" charset="0"/>
              <a:buChar char="•"/>
            </a:pPr>
            <a:r>
              <a:rPr lang="en-GB" altLang="en-NL" sz="2400" dirty="0">
                <a:latin typeface="Arial" panose="020B0604020202020204" pitchFamily="34" charset="0"/>
              </a:rPr>
              <a:t>f</a:t>
            </a:r>
            <a:r>
              <a:rPr lang="en-NL" altLang="en-NL" sz="2400" dirty="0" err="1">
                <a:latin typeface="Arial" panose="020B0604020202020204" pitchFamily="34" charset="0"/>
              </a:rPr>
              <a:t>ast</a:t>
            </a:r>
            <a:r>
              <a:rPr lang="en-NL" altLang="en-NL" sz="2400" dirty="0">
                <a:latin typeface="Arial" panose="020B0604020202020204" pitchFamily="34" charset="0"/>
              </a:rPr>
              <a:t>, approximate, local, </a:t>
            </a:r>
            <a:r>
              <a:rPr lang="en-GB" altLang="en-NL" sz="2400" dirty="0">
                <a:latin typeface="Arial" panose="020B0604020202020204" pitchFamily="34" charset="0"/>
              </a:rPr>
              <a:t>ignorant</a:t>
            </a:r>
            <a:endParaRPr lang="en-NL" altLang="en-NL" sz="2400" dirty="0">
              <a:latin typeface="Arial" panose="020B0604020202020204" pitchFamily="34" charset="0"/>
            </a:endParaRPr>
          </a:p>
          <a:p>
            <a:pPr defTabSz="685800" eaLnBrk="0" hangingPunct="0"/>
            <a:endParaRPr lang="en-GB" altLang="en-NL" sz="2400" dirty="0">
              <a:latin typeface="Arial" panose="020B0604020202020204" pitchFamily="34" charset="0"/>
            </a:endParaRPr>
          </a:p>
          <a:p>
            <a:pPr defTabSz="685800" eaLnBrk="0" hangingPunct="0"/>
            <a:r>
              <a:rPr lang="en-NL" altLang="en-NL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r>
              <a:rPr lang="en-NL" altLang="en-NL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SHapley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Addictive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exPlanations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defTabSz="685800" eaLnBrk="0" hangingPunct="0">
              <a:buFont typeface="Arial" panose="020B0604020202020204" pitchFamily="34" charset="0"/>
              <a:buChar char="•"/>
            </a:pPr>
            <a:r>
              <a:rPr lang="en-NL" altLang="en-NL" sz="2400" dirty="0">
                <a:latin typeface="Arial" panose="020B0604020202020204" pitchFamily="34" charset="0"/>
                <a:cs typeface="Arial" panose="020B0604020202020204" pitchFamily="34" charset="0"/>
              </a:rPr>
              <a:t>fairly </a:t>
            </a:r>
            <a:r>
              <a:rPr lang="en-NL" altLang="en-NL" sz="2400" dirty="0">
                <a:latin typeface="Arial" panose="020B0604020202020204" pitchFamily="34" charset="0"/>
              </a:rPr>
              <a:t>distributes credit for a prediction among features using game theory</a:t>
            </a:r>
            <a:r>
              <a:rPr lang="en-GB" altLang="en-NL" sz="2400" dirty="0">
                <a:latin typeface="Arial" panose="020B0604020202020204" pitchFamily="34" charset="0"/>
              </a:rPr>
              <a:t> (</a:t>
            </a:r>
            <a:r>
              <a:rPr lang="en-GB" altLang="en-NL" sz="2400" dirty="0" err="1">
                <a:latin typeface="Arial" panose="020B0604020202020204" pitchFamily="34" charset="0"/>
              </a:rPr>
              <a:t>shapley</a:t>
            </a:r>
            <a:r>
              <a:rPr lang="en-GB" altLang="en-NL" sz="2400" dirty="0">
                <a:latin typeface="Arial" panose="020B0604020202020204" pitchFamily="34" charset="0"/>
              </a:rPr>
              <a:t> features)</a:t>
            </a:r>
          </a:p>
          <a:p>
            <a:pPr marL="342900" indent="-342900" defTabSz="685800" eaLnBrk="0" hangingPunct="0">
              <a:buFont typeface="Arial" panose="020B0604020202020204" pitchFamily="34" charset="0"/>
              <a:buChar char="•"/>
            </a:pPr>
            <a:r>
              <a:rPr lang="en-GB" altLang="en-NL" sz="2400" dirty="0">
                <a:latin typeface="Arial" panose="020B0604020202020204" pitchFamily="34" charset="0"/>
              </a:rPr>
              <a:t>m</a:t>
            </a:r>
            <a:r>
              <a:rPr lang="en-NL" altLang="en-NL" sz="2400" dirty="0">
                <a:latin typeface="Arial" panose="020B0604020202020204" pitchFamily="34" charset="0"/>
              </a:rPr>
              <a:t>ore mathematically grounded, consistent, but computationally</a:t>
            </a:r>
            <a:r>
              <a:rPr lang="en-GB" altLang="en-NL" sz="2400" dirty="0">
                <a:latin typeface="Arial" panose="020B0604020202020204" pitchFamily="34" charset="0"/>
              </a:rPr>
              <a:t> more</a:t>
            </a:r>
            <a:r>
              <a:rPr lang="en-NL" altLang="en-NL" sz="2400" dirty="0">
                <a:latin typeface="Arial" panose="020B0604020202020204" pitchFamily="34" charset="0"/>
              </a:rPr>
              <a:t> expensive</a:t>
            </a:r>
            <a:endParaRPr lang="en-GB" altLang="en-NL" sz="2400" dirty="0">
              <a:latin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7F0EBF1-EE2F-546E-D2E4-044E14C0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907574"/>
            <a:ext cx="7886700" cy="994172"/>
          </a:xfrm>
        </p:spPr>
        <p:txBody>
          <a:bodyPr>
            <a:normAutofit/>
          </a:bodyPr>
          <a:lstStyle/>
          <a:p>
            <a:r>
              <a:rPr lang="en-GB" sz="4800" dirty="0"/>
              <a:t>LIME and SHAP</a:t>
            </a:r>
            <a:endParaRPr lang="en-NL" sz="4800" dirty="0"/>
          </a:p>
        </p:txBody>
      </p:sp>
    </p:spTree>
    <p:extLst>
      <p:ext uri="{BB962C8B-B14F-4D97-AF65-F5344CB8AC3E}">
        <p14:creationId xmlns:p14="http://schemas.microsoft.com/office/powerpoint/2010/main" val="2187037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CAD292-8D16-2063-72B0-54CFA2DA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1">
            <a:extLst>
              <a:ext uri="{FF2B5EF4-FFF2-40B4-BE49-F238E27FC236}">
                <a16:creationId xmlns:a16="http://schemas.microsoft.com/office/drawing/2014/main" id="{6108CD7F-15E5-F9CE-1780-A8ABFAD75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339318"/>
            <a:ext cx="8382000" cy="327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1600" dirty="0">
                <a:latin typeface="Arial" panose="020B0604020202020204" pitchFamily="34" charset="0"/>
              </a:rPr>
              <a:t>LIME (Local Interpretable Model-Agnostic Explanations)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NL" sz="1600" dirty="0">
                <a:latin typeface="Arial" panose="020B0604020202020204" pitchFamily="34" charset="0"/>
              </a:rPr>
              <a:t>Id</a:t>
            </a:r>
            <a:r>
              <a:rPr lang="en-NL" altLang="en-NL" sz="1600" dirty="0" err="1">
                <a:latin typeface="Arial" panose="020B0604020202020204" pitchFamily="34" charset="0"/>
              </a:rPr>
              <a:t>ea</a:t>
            </a:r>
            <a:r>
              <a:rPr lang="en-NL" altLang="en-NL" sz="1600" dirty="0">
                <a:latin typeface="Arial" panose="020B0604020202020204" pitchFamily="34" charset="0"/>
              </a:rPr>
              <a:t>: </a:t>
            </a:r>
            <a:r>
              <a:rPr lang="en-GB" altLang="en-NL" sz="1600" i="1" dirty="0">
                <a:latin typeface="Arial" panose="020B0604020202020204" pitchFamily="34" charset="0"/>
              </a:rPr>
              <a:t>A</a:t>
            </a:r>
            <a:r>
              <a:rPr lang="en-NL" altLang="en-NL" sz="1600" i="1" dirty="0" err="1">
                <a:latin typeface="Arial" panose="020B0604020202020204" pitchFamily="34" charset="0"/>
              </a:rPr>
              <a:t>pproximating</a:t>
            </a:r>
            <a:r>
              <a:rPr lang="en-NL" altLang="en-NL" sz="1600" i="1" dirty="0">
                <a:latin typeface="Arial" panose="020B0604020202020204" pitchFamily="34" charset="0"/>
              </a:rPr>
              <a:t> the model locally with a simpler, interpretable model (like linear regression).</a:t>
            </a:r>
            <a:endParaRPr lang="en-GB" altLang="en-NL" sz="1600" i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1600" dirty="0">
                <a:latin typeface="Arial" panose="020B0604020202020204" pitchFamily="34" charset="0"/>
              </a:rPr>
              <a:t>perturb (tweaks) the input data</a:t>
            </a:r>
            <a:r>
              <a:rPr lang="en-GB" altLang="en-NL" sz="1600" dirty="0">
                <a:latin typeface="Arial" panose="020B0604020202020204" pitchFamily="34" charset="0"/>
              </a:rPr>
              <a:t>, </a:t>
            </a:r>
            <a:r>
              <a:rPr lang="en-NL" altLang="en-NL" sz="1600" dirty="0">
                <a:latin typeface="Arial" panose="020B0604020202020204" pitchFamily="34" charset="0"/>
              </a:rPr>
              <a:t>check how the predictions change</a:t>
            </a:r>
            <a:r>
              <a:rPr lang="en-GB" altLang="en-NL" sz="1600" dirty="0">
                <a:latin typeface="Arial" panose="020B0604020202020204" pitchFamily="34" charset="0"/>
              </a:rPr>
              <a:t>, </a:t>
            </a:r>
            <a:r>
              <a:rPr lang="en-NL" altLang="en-NL" sz="1600" dirty="0">
                <a:latin typeface="Arial" panose="020B0604020202020204" pitchFamily="34" charset="0"/>
              </a:rPr>
              <a:t>fit a simple model </a:t>
            </a:r>
            <a:endParaRPr lang="en-GB" altLang="en-NL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NL" sz="1600" dirty="0" err="1">
                <a:latin typeface="Arial" panose="020B0604020202020204" pitchFamily="34" charset="0"/>
              </a:rPr>
              <a:t>th</a:t>
            </a:r>
            <a:r>
              <a:rPr lang="en-NL" altLang="en-NL" sz="1600" dirty="0">
                <a:latin typeface="Arial" panose="020B0604020202020204" pitchFamily="34" charset="0"/>
              </a:rPr>
              <a:t>e coefficients of this simple model tell </a:t>
            </a:r>
            <a:r>
              <a:rPr lang="en-GB" altLang="en-NL" sz="1600" dirty="0">
                <a:latin typeface="Arial" panose="020B0604020202020204" pitchFamily="34" charset="0"/>
              </a:rPr>
              <a:t>which </a:t>
            </a:r>
            <a:r>
              <a:rPr lang="en-NL" altLang="en-NL" sz="1600" dirty="0">
                <a:latin typeface="Arial" panose="020B0604020202020204" pitchFamily="34" charset="0"/>
              </a:rPr>
              <a:t>features contribute most</a:t>
            </a:r>
          </a:p>
          <a:p>
            <a:pPr defTabSz="685800" eaLnBrk="0" hangingPunct="0">
              <a:buFontTx/>
              <a:buChar char="•"/>
            </a:pPr>
            <a:endParaRPr lang="en-GB" altLang="en-NL" sz="1600" dirty="0">
              <a:latin typeface="Arial" panose="020B0604020202020204" pitchFamily="34" charset="0"/>
            </a:endParaRPr>
          </a:p>
          <a:p>
            <a:pPr defTabSz="685800" eaLnBrk="0" hangingPunct="0">
              <a:buFontTx/>
              <a:buChar char="•"/>
            </a:pPr>
            <a:endParaRPr lang="en-GB" altLang="en-NL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1600" dirty="0">
                <a:latin typeface="Arial" panose="020B0604020202020204" pitchFamily="34" charset="0"/>
              </a:rPr>
              <a:t>SHAP (</a:t>
            </a:r>
            <a:r>
              <a:rPr lang="en-NL" altLang="en-NL" sz="1600" dirty="0" err="1">
                <a:latin typeface="Arial" panose="020B0604020202020204" pitchFamily="34" charset="0"/>
              </a:rPr>
              <a:t>SHapley</a:t>
            </a:r>
            <a:r>
              <a:rPr lang="en-NL" altLang="en-NL" sz="1600" dirty="0">
                <a:latin typeface="Arial" panose="020B0604020202020204" pitchFamily="34" charset="0"/>
              </a:rPr>
              <a:t> Additive </a:t>
            </a:r>
            <a:r>
              <a:rPr lang="en-NL" altLang="en-NL" sz="1600" dirty="0" err="1">
                <a:latin typeface="Arial" panose="020B0604020202020204" pitchFamily="34" charset="0"/>
              </a:rPr>
              <a:t>exPlanations</a:t>
            </a:r>
            <a:r>
              <a:rPr lang="en-NL" altLang="en-NL" sz="16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NL" sz="1600" dirty="0">
                <a:latin typeface="Arial" panose="020B0604020202020204" pitchFamily="34" charset="0"/>
              </a:rPr>
              <a:t>I</a:t>
            </a:r>
            <a:r>
              <a:rPr lang="en-NL" altLang="en-NL" sz="1600" dirty="0" err="1">
                <a:latin typeface="Arial" panose="020B0604020202020204" pitchFamily="34" charset="0"/>
              </a:rPr>
              <a:t>dea</a:t>
            </a:r>
            <a:r>
              <a:rPr lang="en-NL" altLang="en-NL" sz="1600" dirty="0">
                <a:latin typeface="Arial" panose="020B0604020202020204" pitchFamily="34" charset="0"/>
              </a:rPr>
              <a:t>: </a:t>
            </a:r>
            <a:r>
              <a:rPr lang="en-NL" altLang="en-NL" sz="1600" i="1" dirty="0">
                <a:latin typeface="Arial" panose="020B0604020202020204" pitchFamily="34" charset="0"/>
              </a:rPr>
              <a:t>Explain predictions using game theory, treating features like “players” in a cooperative game.</a:t>
            </a:r>
            <a:endParaRPr lang="en-GB" altLang="en-NL" sz="1600" i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1600" dirty="0">
                <a:latin typeface="Arial" panose="020B0604020202020204" pitchFamily="34" charset="0"/>
              </a:rPr>
              <a:t>It calculates Shapley values, which come from cooperative game theory, ensuring a fair distribution of contribution</a:t>
            </a:r>
            <a:endParaRPr lang="en-GB" altLang="en-NL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NL" altLang="en-NL" sz="1600" dirty="0">
                <a:latin typeface="Arial" panose="020B0604020202020204" pitchFamily="34" charset="0"/>
              </a:rPr>
              <a:t>Contributions are calculated by considering all possible combinations of features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C3E673-4B58-0BE5-FE66-01E7E74B4BDF}"/>
              </a:ext>
            </a:extLst>
          </p:cNvPr>
          <p:cNvSpPr txBox="1">
            <a:spLocks/>
          </p:cNvSpPr>
          <p:nvPr/>
        </p:nvSpPr>
        <p:spPr>
          <a:xfrm>
            <a:off x="984250" y="90757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LIME and SHAP</a:t>
            </a:r>
            <a:endParaRPr lang="en-NL" sz="4800" dirty="0"/>
          </a:p>
        </p:txBody>
      </p:sp>
    </p:spTree>
    <p:extLst>
      <p:ext uri="{BB962C8B-B14F-4D97-AF65-F5344CB8AC3E}">
        <p14:creationId xmlns:p14="http://schemas.microsoft.com/office/powerpoint/2010/main" val="702796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1070-9EB2-2285-9184-8412483D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DA075-952C-1243-18AF-085AD9EB3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Approximation theory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mathematical underpinning of so-called ’limited width/depth networks’. 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a classical result says that (under specific conditions) feedforward networks with sufficient width and depth are general approximators. 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Approximation theorems say what neural networks can learn in terms of mappings</a:t>
            </a:r>
          </a:p>
          <a:p>
            <a:pPr marL="0" indent="0">
              <a:buNone/>
            </a:pPr>
            <a:endParaRPr lang="en-US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i="0" dirty="0">
                <a:effectLst/>
                <a:latin typeface="Arial" panose="020B0604020202020204" pitchFamily="34" charset="0"/>
              </a:rPr>
              <a:t>Current speech encoder/decoder architectures can learn </a:t>
            </a:r>
            <a:r>
              <a:rPr lang="en-US" b="0" i="0" dirty="0"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highly complex mappings from the audio feature space to the word embedding space</a:t>
            </a:r>
            <a:r>
              <a:rPr lang="en-US" b="0" i="0" dirty="0">
                <a:effectLst/>
                <a:latin typeface="Arial" panose="020B0604020202020204" pitchFamily="34" charset="0"/>
              </a:rPr>
              <a:t>, due to stacked non-linear layers and weighted context dependency.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07909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8D40-FE29-1D23-5B48-45314A94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A76B-F61B-C20C-0957-88E9A734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Linguistics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In formal linguistics, sentences obey a particular structure: as a linear sequence of phrases, or of nested phrases 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</a:rPr>
              <a:t>Formally, grammatical complexity can be organized along a scale inspired by the Chomsky hierarchy (Finite, Regular, Context-Free, mildly Context-Sensitive, Context Sensitive, ...). 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In spoken language, and certainly in </a:t>
            </a:r>
            <a:r>
              <a:rPr lang="en-US" b="0" i="0" dirty="0"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spontaneous</a:t>
            </a:r>
            <a:r>
              <a:rPr lang="en-US" b="0" i="0" dirty="0">
                <a:effectLst/>
                <a:latin typeface="Arial" panose="020B0604020202020204" pitchFamily="34" charset="0"/>
              </a:rPr>
              <a:t> speech, the structure of utterances may deviate substantially from the formal properties of sentences in written text, but spoken utterances are not random and still obey a grammatical structure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44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50DD2A-00E7-B07A-0641-3DBABA0FD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246" t="33606" r="11571" b="27928"/>
          <a:stretch/>
        </p:blipFill>
        <p:spPr>
          <a:xfrm>
            <a:off x="300681" y="457201"/>
            <a:ext cx="5795319" cy="3835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EAC25D-7563-7BC4-2E44-FD86A9166A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78" t="38919" r="2820" b="24144"/>
          <a:stretch/>
        </p:blipFill>
        <p:spPr>
          <a:xfrm>
            <a:off x="6400800" y="778474"/>
            <a:ext cx="5090983" cy="298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29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9884F5-692D-9709-6062-242C590279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95" t="16756" r="19792" b="23243"/>
          <a:stretch/>
        </p:blipFill>
        <p:spPr>
          <a:xfrm>
            <a:off x="98854" y="365124"/>
            <a:ext cx="11343503" cy="631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95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44E5-417E-9854-AF8C-9915A857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 are powerful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7B0B1-F869-1160-E2E9-A9C983620900}"/>
              </a:ext>
            </a:extLst>
          </p:cNvPr>
          <p:cNvSpPr txBox="1"/>
          <p:nvPr/>
        </p:nvSpPr>
        <p:spPr>
          <a:xfrm>
            <a:off x="6312024" y="2060848"/>
            <a:ext cx="5406929" cy="30777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NL" sz="1400" dirty="0"/>
              <a:t>hond aap slang olifant slang </a:t>
            </a:r>
            <a:r>
              <a:rPr lang="nl-NL" sz="1400" dirty="0" err="1"/>
              <a:t>slang</a:t>
            </a:r>
            <a:r>
              <a:rPr lang="nl-NL" sz="1400" dirty="0"/>
              <a:t> leeuw </a:t>
            </a:r>
            <a:r>
              <a:rPr lang="nl-NL" sz="1400" dirty="0" err="1"/>
              <a:t>leeuw</a:t>
            </a:r>
            <a:r>
              <a:rPr lang="nl-NL" sz="1400" dirty="0"/>
              <a:t> kat muis </a:t>
            </a:r>
          </a:p>
          <a:p>
            <a:r>
              <a:rPr lang="nl-NL" sz="1400" dirty="0"/>
              <a:t>kat </a:t>
            </a:r>
            <a:r>
              <a:rPr lang="nl-NL" sz="1400" dirty="0" err="1"/>
              <a:t>kat</a:t>
            </a:r>
            <a:r>
              <a:rPr lang="nl-NL" sz="1400" dirty="0"/>
              <a:t> aap kat kanarie muis </a:t>
            </a:r>
            <a:r>
              <a:rPr lang="nl-NL" sz="1400" dirty="0" err="1"/>
              <a:t>muis</a:t>
            </a:r>
            <a:r>
              <a:rPr lang="nl-NL" sz="1400" dirty="0"/>
              <a:t> aap olifant leeuw </a:t>
            </a:r>
          </a:p>
          <a:p>
            <a:r>
              <a:rPr lang="nl-NL" sz="1400" dirty="0"/>
              <a:t>aap olifant kanarie aap leeuw kat muis kat hond kanarie </a:t>
            </a:r>
          </a:p>
          <a:p>
            <a:r>
              <a:rPr lang="nl-NL" sz="1400" dirty="0"/>
              <a:t>kat aap kat </a:t>
            </a:r>
            <a:r>
              <a:rPr lang="nl-NL" sz="1400" dirty="0" err="1"/>
              <a:t>kat</a:t>
            </a:r>
            <a:r>
              <a:rPr lang="nl-NL" sz="1400" dirty="0"/>
              <a:t> olifant hond </a:t>
            </a:r>
            <a:r>
              <a:rPr lang="nl-NL" sz="1400" dirty="0" err="1"/>
              <a:t>hond</a:t>
            </a:r>
            <a:r>
              <a:rPr lang="nl-NL" sz="1400" dirty="0"/>
              <a:t> aap muis hond </a:t>
            </a:r>
          </a:p>
          <a:p>
            <a:r>
              <a:rPr lang="nl-NL" sz="1400" dirty="0"/>
              <a:t>slang kanarie slang kanarie aap leeuw aap kanarie leeuw aap </a:t>
            </a:r>
          </a:p>
          <a:p>
            <a:r>
              <a:rPr lang="nl-NL" sz="1400" dirty="0"/>
              <a:t>hond muis </a:t>
            </a:r>
            <a:r>
              <a:rPr lang="nl-NL" sz="1400" dirty="0" err="1"/>
              <a:t>muis</a:t>
            </a:r>
            <a:r>
              <a:rPr lang="nl-NL" sz="1400" dirty="0"/>
              <a:t> olifant kanarie olifant slang leeuw kanarie slang </a:t>
            </a:r>
          </a:p>
          <a:p>
            <a:r>
              <a:rPr lang="nl-NL" sz="1400" dirty="0"/>
              <a:t>slang kat muis </a:t>
            </a:r>
            <a:r>
              <a:rPr lang="nl-NL" sz="1400" dirty="0" err="1"/>
              <a:t>muis</a:t>
            </a:r>
            <a:r>
              <a:rPr lang="nl-NL" sz="1400" dirty="0"/>
              <a:t> slang </a:t>
            </a:r>
            <a:r>
              <a:rPr lang="nl-NL" sz="1400" dirty="0" err="1"/>
              <a:t>slang</a:t>
            </a:r>
            <a:r>
              <a:rPr lang="nl-NL" sz="1400" dirty="0"/>
              <a:t> muis leeuw slang </a:t>
            </a:r>
            <a:r>
              <a:rPr lang="nl-NL" sz="1400" dirty="0" err="1"/>
              <a:t>slang</a:t>
            </a:r>
            <a:r>
              <a:rPr lang="nl-NL" sz="1400" dirty="0"/>
              <a:t> </a:t>
            </a:r>
          </a:p>
          <a:p>
            <a:r>
              <a:rPr lang="nl-NL" sz="1400" dirty="0"/>
              <a:t>leeuw aap hond </a:t>
            </a:r>
            <a:r>
              <a:rPr lang="nl-NL" sz="1400" dirty="0" err="1"/>
              <a:t>hond</a:t>
            </a:r>
            <a:r>
              <a:rPr lang="nl-NL" sz="1400" dirty="0"/>
              <a:t> leeuw kanarie hond slang hond olifant </a:t>
            </a:r>
          </a:p>
          <a:p>
            <a:r>
              <a:rPr lang="nl-NL" sz="1400" dirty="0"/>
              <a:t>muis leeuw aap hond kanarie </a:t>
            </a:r>
            <a:r>
              <a:rPr lang="nl-NL" sz="1400" dirty="0" err="1"/>
              <a:t>kanarie</a:t>
            </a:r>
            <a:r>
              <a:rPr lang="nl-NL" sz="1400" dirty="0"/>
              <a:t> </a:t>
            </a:r>
            <a:r>
              <a:rPr lang="nl-NL" sz="1400" dirty="0" err="1"/>
              <a:t>kanarie</a:t>
            </a:r>
            <a:r>
              <a:rPr lang="nl-NL" sz="1400" dirty="0"/>
              <a:t> aap kat slang </a:t>
            </a:r>
          </a:p>
          <a:p>
            <a:r>
              <a:rPr lang="nl-NL" sz="1400" dirty="0"/>
              <a:t>olifant muis </a:t>
            </a:r>
            <a:r>
              <a:rPr lang="nl-NL" sz="1400" dirty="0" err="1"/>
              <a:t>muis</a:t>
            </a:r>
            <a:r>
              <a:rPr lang="nl-NL" sz="1400" dirty="0"/>
              <a:t> leeuw kanarie olifant kanarie kat leeuw slang </a:t>
            </a:r>
          </a:p>
          <a:p>
            <a:r>
              <a:rPr lang="nl-NL" sz="1400" dirty="0"/>
              <a:t>hond kat muis aap leeuw </a:t>
            </a:r>
            <a:r>
              <a:rPr lang="nl-NL" sz="1400" dirty="0" err="1"/>
              <a:t>leeuw</a:t>
            </a:r>
            <a:r>
              <a:rPr lang="nl-NL" sz="1400" dirty="0"/>
              <a:t> </a:t>
            </a:r>
            <a:r>
              <a:rPr lang="nl-NL" sz="1400" dirty="0" err="1"/>
              <a:t>leeuw</a:t>
            </a:r>
            <a:r>
              <a:rPr lang="nl-NL" sz="1400" dirty="0"/>
              <a:t> kat kanarie leeuw </a:t>
            </a:r>
          </a:p>
          <a:p>
            <a:r>
              <a:rPr lang="nl-NL" sz="1400" dirty="0"/>
              <a:t>hond slang aap slang muis slang leeuw kat slang olifant </a:t>
            </a:r>
          </a:p>
          <a:p>
            <a:r>
              <a:rPr lang="nl-NL" sz="1400" dirty="0"/>
              <a:t>muis </a:t>
            </a:r>
            <a:r>
              <a:rPr lang="nl-NL" sz="1400" dirty="0" err="1"/>
              <a:t>muis</a:t>
            </a:r>
            <a:r>
              <a:rPr lang="nl-NL" sz="1400" dirty="0"/>
              <a:t> leeuw </a:t>
            </a:r>
            <a:r>
              <a:rPr lang="nl-NL" sz="1400" dirty="0" err="1"/>
              <a:t>leeuw</a:t>
            </a:r>
            <a:r>
              <a:rPr lang="nl-NL" sz="1400" dirty="0"/>
              <a:t> </a:t>
            </a:r>
            <a:r>
              <a:rPr lang="nl-NL" sz="1400" dirty="0" err="1"/>
              <a:t>leeuw</a:t>
            </a:r>
            <a:r>
              <a:rPr lang="nl-NL" sz="1400" dirty="0"/>
              <a:t> aap kanarie aap hond kanarie </a:t>
            </a:r>
          </a:p>
          <a:p>
            <a:endParaRPr lang="nl-NL" sz="1800" dirty="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B2E2F-B7D2-387A-91E7-EEE9D4BD7D4C}"/>
              </a:ext>
            </a:extLst>
          </p:cNvPr>
          <p:cNvSpPr txBox="1"/>
          <p:nvPr/>
        </p:nvSpPr>
        <p:spPr>
          <a:xfrm>
            <a:off x="600906" y="2060848"/>
            <a:ext cx="5495094" cy="28007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NL" sz="1400" dirty="0"/>
              <a:t>leeuw olifant slang leeuw muis aap </a:t>
            </a:r>
            <a:r>
              <a:rPr lang="nl-NL" sz="1400" dirty="0" err="1"/>
              <a:t>aap</a:t>
            </a:r>
            <a:r>
              <a:rPr lang="nl-NL" sz="1400" dirty="0"/>
              <a:t> kat leeuw aap </a:t>
            </a:r>
          </a:p>
          <a:p>
            <a:r>
              <a:rPr lang="nl-NL" sz="1400" dirty="0"/>
              <a:t>leeuw slang </a:t>
            </a:r>
            <a:r>
              <a:rPr lang="nl-NL" sz="1400" dirty="0" err="1"/>
              <a:t>slang</a:t>
            </a:r>
            <a:r>
              <a:rPr lang="nl-NL" sz="1400" dirty="0"/>
              <a:t> </a:t>
            </a:r>
            <a:r>
              <a:rPr lang="nl-NL" sz="1400" dirty="0" err="1"/>
              <a:t>slang</a:t>
            </a:r>
            <a:r>
              <a:rPr lang="nl-NL" sz="1400" dirty="0"/>
              <a:t> kat leeuw olifant leeuw hond slang </a:t>
            </a:r>
          </a:p>
          <a:p>
            <a:r>
              <a:rPr lang="nl-NL" sz="1400" dirty="0"/>
              <a:t>aap hond kanarie leeuw slang </a:t>
            </a:r>
            <a:r>
              <a:rPr lang="nl-NL" sz="1400" dirty="0" err="1"/>
              <a:t>slang</a:t>
            </a:r>
            <a:r>
              <a:rPr lang="nl-NL" sz="1400" dirty="0"/>
              <a:t> olifant hond leeuw slang </a:t>
            </a:r>
          </a:p>
          <a:p>
            <a:r>
              <a:rPr lang="nl-NL" sz="1400" dirty="0"/>
              <a:t>kat leeuw hond kat olifant kanarie olifant leeuw kanarie slang </a:t>
            </a:r>
          </a:p>
          <a:p>
            <a:r>
              <a:rPr lang="nl-NL" sz="1400" dirty="0"/>
              <a:t>hond aap leeuw kanarie hond olifant leeuw kanarie </a:t>
            </a:r>
            <a:r>
              <a:rPr lang="nl-NL" sz="1400" dirty="0" err="1"/>
              <a:t>kanarie</a:t>
            </a:r>
            <a:r>
              <a:rPr lang="nl-NL" sz="1400" dirty="0"/>
              <a:t> hond </a:t>
            </a:r>
          </a:p>
          <a:p>
            <a:r>
              <a:rPr lang="nl-NL" sz="1400" dirty="0"/>
              <a:t>slang </a:t>
            </a:r>
            <a:r>
              <a:rPr lang="nl-NL" sz="1400" dirty="0" err="1"/>
              <a:t>slang</a:t>
            </a:r>
            <a:r>
              <a:rPr lang="nl-NL" sz="1400" dirty="0"/>
              <a:t> leeuw olifant muis leeuw muis kanarie </a:t>
            </a:r>
            <a:r>
              <a:rPr lang="nl-NL" sz="1400" dirty="0" err="1"/>
              <a:t>kanarie</a:t>
            </a:r>
            <a:r>
              <a:rPr lang="nl-NL" sz="1400" dirty="0"/>
              <a:t> kat </a:t>
            </a:r>
          </a:p>
          <a:p>
            <a:r>
              <a:rPr lang="nl-NL" sz="1400" dirty="0"/>
              <a:t>leeuw hond slang leeuw olifant aap </a:t>
            </a:r>
            <a:r>
              <a:rPr lang="nl-NL" sz="1400" dirty="0" err="1"/>
              <a:t>aap</a:t>
            </a:r>
            <a:r>
              <a:rPr lang="nl-NL" sz="1400" dirty="0"/>
              <a:t> slang leeuw aap </a:t>
            </a:r>
          </a:p>
          <a:p>
            <a:r>
              <a:rPr lang="nl-NL" sz="1400" dirty="0"/>
              <a:t>leeuw muis kat olifant kat </a:t>
            </a:r>
            <a:r>
              <a:rPr lang="nl-NL" sz="1400" dirty="0" err="1"/>
              <a:t>kat</a:t>
            </a:r>
            <a:r>
              <a:rPr lang="nl-NL" sz="1400" dirty="0"/>
              <a:t> aap leeuw slang kat </a:t>
            </a:r>
          </a:p>
          <a:p>
            <a:r>
              <a:rPr lang="nl-NL" sz="1400" dirty="0"/>
              <a:t>aap leeuw olifant kat hond </a:t>
            </a:r>
            <a:r>
              <a:rPr lang="nl-NL" sz="1400" dirty="0" err="1"/>
              <a:t>hond</a:t>
            </a:r>
            <a:r>
              <a:rPr lang="nl-NL" sz="1400" dirty="0"/>
              <a:t> muis slang hond leeuw </a:t>
            </a:r>
          </a:p>
          <a:p>
            <a:r>
              <a:rPr lang="nl-NL" sz="1400" dirty="0"/>
              <a:t>muis </a:t>
            </a:r>
            <a:r>
              <a:rPr lang="nl-NL" sz="1400" dirty="0" err="1"/>
              <a:t>muis</a:t>
            </a:r>
            <a:r>
              <a:rPr lang="nl-NL" sz="1400" dirty="0"/>
              <a:t> aap leeuw aap slang olifant leeuw kat leeuw </a:t>
            </a:r>
          </a:p>
          <a:p>
            <a:r>
              <a:rPr lang="nl-NL" sz="1400" dirty="0"/>
              <a:t>hond leeuw olifant </a:t>
            </a:r>
            <a:r>
              <a:rPr lang="nl-NL" sz="1400" dirty="0" err="1"/>
              <a:t>olifant</a:t>
            </a:r>
            <a:r>
              <a:rPr lang="nl-NL" sz="1400" dirty="0"/>
              <a:t> leeuw kat kanarie aap hond aap </a:t>
            </a:r>
          </a:p>
          <a:p>
            <a:r>
              <a:rPr lang="nl-NL" sz="1400" dirty="0"/>
              <a:t>kat leeuw hond </a:t>
            </a:r>
            <a:r>
              <a:rPr lang="nl-NL" sz="1400" dirty="0" err="1"/>
              <a:t>hond</a:t>
            </a:r>
            <a:r>
              <a:rPr lang="nl-NL" sz="1400" dirty="0"/>
              <a:t> kanarie kat kanarie kat olifant leeuw </a:t>
            </a:r>
          </a:p>
          <a:p>
            <a:r>
              <a:rPr lang="nl-NL" sz="1400" dirty="0"/>
              <a:t>hond muis aap slang leeuw kanarie olifant slang leeuw muis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D94DC-52F5-F445-45E5-EF2184B7F3F8}"/>
              </a:ext>
            </a:extLst>
          </p:cNvPr>
          <p:cNvSpPr txBox="1"/>
          <p:nvPr/>
        </p:nvSpPr>
        <p:spPr>
          <a:xfrm>
            <a:off x="2855640" y="4725561"/>
            <a:ext cx="7101303" cy="2123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3800" dirty="0">
                <a:solidFill>
                  <a:srgbClr val="C00000"/>
                </a:solidFill>
              </a:rPr>
              <a:t>+            -</a:t>
            </a:r>
            <a:endParaRPr lang="nl-NL" sz="138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547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84578d9-400d-4a5a-a7c7-e76ca47af400}" enabled="0" method="" siteId="{084578d9-400d-4a5a-a7c7-e76ca47af4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Microsoft Office PowerPoint</Application>
  <PresentationFormat>Widescreen</PresentationFormat>
  <Paragraphs>135</Paragraphs>
  <Slides>26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Structure discovery by Transformer networks</vt:lpstr>
      <vt:lpstr>Very Short history … deep learning</vt:lpstr>
      <vt:lpstr>One of the KEY papers (2017)</vt:lpstr>
      <vt:lpstr>PowerPoint Presentation</vt:lpstr>
      <vt:lpstr>PowerPoint Presentation</vt:lpstr>
      <vt:lpstr>PowerPoint Presentation</vt:lpstr>
      <vt:lpstr>Vectors and networks</vt:lpstr>
      <vt:lpstr>SFMs and LLMs – see e.g. Verdini et al. (2025)</vt:lpstr>
      <vt:lpstr>HOW DO WE GET THESE VECTORS?</vt:lpstr>
      <vt:lpstr>Understanding why self-attention works, in particular the dotprot construction</vt:lpstr>
      <vt:lpstr>Understanding why self-attention works, in particular the dotprot construction</vt:lpstr>
      <vt:lpstr>Understanding why self-attention works, in particular the dotprot consTruction </vt:lpstr>
      <vt:lpstr>In practice, attention is a bit more complex</vt:lpstr>
      <vt:lpstr>PowerPoint Presentation</vt:lpstr>
      <vt:lpstr>PowerPoint Presentation</vt:lpstr>
      <vt:lpstr>PowerPoint Presentation</vt:lpstr>
      <vt:lpstr>PowerPoint Presentation</vt:lpstr>
      <vt:lpstr>Intro</vt:lpstr>
      <vt:lpstr>Intro</vt:lpstr>
      <vt:lpstr>LIME and SHAP</vt:lpstr>
      <vt:lpstr>PowerPoint Presentation</vt:lpstr>
      <vt:lpstr>Intro</vt:lpstr>
      <vt:lpstr>Intro</vt:lpstr>
      <vt:lpstr>PowerPoint Presentation</vt:lpstr>
      <vt:lpstr>PowerPoint Presentation</vt:lpstr>
      <vt:lpstr>Transformers are powerful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discovery by Transformer networks</dc:title>
  <dc:creator>Bosch, L.F.M. ten (Louis)</dc:creator>
  <cp:lastModifiedBy>Bosch, L.F.M. ten (Louis)</cp:lastModifiedBy>
  <cp:revision>4</cp:revision>
  <dcterms:created xsi:type="dcterms:W3CDTF">2024-04-22T07:33:42Z</dcterms:created>
  <dcterms:modified xsi:type="dcterms:W3CDTF">2025-09-23T11:21:14Z</dcterms:modified>
</cp:coreProperties>
</file>