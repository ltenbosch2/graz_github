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3" r:id="rId4"/>
    <p:sldId id="274" r:id="rId5"/>
    <p:sldId id="288" r:id="rId6"/>
    <p:sldId id="1031" r:id="rId7"/>
    <p:sldId id="1033" r:id="rId8"/>
    <p:sldId id="1032" r:id="rId9"/>
    <p:sldId id="1034" r:id="rId10"/>
    <p:sldId id="1003" r:id="rId11"/>
    <p:sldId id="275" r:id="rId12"/>
    <p:sldId id="1020" r:id="rId13"/>
    <p:sldId id="276" r:id="rId14"/>
    <p:sldId id="1021" r:id="rId15"/>
    <p:sldId id="278" r:id="rId16"/>
    <p:sldId id="279" r:id="rId17"/>
    <p:sldId id="1024" r:id="rId18"/>
    <p:sldId id="280" r:id="rId19"/>
    <p:sldId id="1022" r:id="rId20"/>
    <p:sldId id="284" r:id="rId21"/>
    <p:sldId id="281" r:id="rId22"/>
    <p:sldId id="1026" r:id="rId23"/>
    <p:sldId id="282" r:id="rId24"/>
    <p:sldId id="1023" r:id="rId25"/>
    <p:sldId id="1025" r:id="rId26"/>
    <p:sldId id="1007" r:id="rId27"/>
    <p:sldId id="261" r:id="rId28"/>
    <p:sldId id="262" r:id="rId29"/>
    <p:sldId id="263" r:id="rId30"/>
    <p:sldId id="264" r:id="rId31"/>
    <p:sldId id="265" r:id="rId32"/>
    <p:sldId id="266" r:id="rId33"/>
    <p:sldId id="285" r:id="rId34"/>
    <p:sldId id="287" r:id="rId35"/>
    <p:sldId id="1030" r:id="rId36"/>
    <p:sldId id="286" r:id="rId37"/>
    <p:sldId id="1035" r:id="rId38"/>
    <p:sldId id="258" r:id="rId39"/>
    <p:sldId id="259" r:id="rId4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0AD53-5CA9-4483-A389-82077D5DD71E}" v="16" dt="2025-09-30T15:34:37.0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6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F617-B9E5-7533-D375-6528CB506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2BC76-B6B4-24F7-50E2-F6307E62A0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BDB4F-E3F3-7AA9-8794-765EA0A3C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0FE2C-E184-D912-E83C-7D8526886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518C2-30BA-0764-734D-FCDE2F9B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854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D493-F366-D516-764D-F94C8C2B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3BC19-00D0-90E5-BF3A-C6BEF8620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F6944-774E-7835-7AFF-DA17E948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564D2-B743-80A8-DE45-17AF759F1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42566-2AA9-D78B-7E63-3807E74A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428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C66F4-763F-7557-5012-91900C42E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1BEDE-2CAC-9C05-EDC8-CB07BD8B3E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19AAB-E0DF-25FB-D0DD-192EA39D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F55B1-68B1-04E1-F58C-B8AE0D2E8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D2E73-800C-2DA3-B3DC-2243B6347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9126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6FCD-CFF6-5F22-06C0-98F9C243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59AFD-BF11-8556-3BEE-8A9EF070B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4093E-37C2-ED84-8645-D8CED84BD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D8A98-6022-5152-145D-7C7C4985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7B766-8840-36F6-713C-E26337078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29CE4-FFAC-D4CD-EB6F-7C6FB8BF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567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A9FA-04DD-6CC8-73FF-EC726E26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A1100-0446-561B-3E77-B4A4B78F7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A21E4-DCFE-DC3B-EF8C-C6A5F2742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3D56EE-328B-B999-E1D4-1664788AE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D1BC5-2E38-1D67-3A82-869D466875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44D51B-0424-4EE3-EB7D-B1FAA206B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521809-B09D-22A9-B63B-674DCB813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66CD56-BB47-AD9C-D6A1-0EE31EF2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565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8E7C-99F7-3AC7-4DE1-644A05FE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5D5350-60A5-3DDD-33E6-012B37648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9ED08-6845-BDC7-71BD-613273BCF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1195F-0400-9C61-97B8-9D7E7B57A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5757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5F14C0-1C4F-D632-B231-CD07703F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BBB536-7D04-1F35-8FC3-F4A49C356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CCADA-9E3E-F415-1778-E2E5FE2E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457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DCD5D-8241-FA82-A2AF-A0F0A0F4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2DB25-0416-EB4E-BFF4-C3CB7FE0C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A2EC6-89F9-3596-57E7-AA8C3EBB6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8BB0C-838C-969D-C655-F72614201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5ECC4-5E2E-20E3-F609-A2698269A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84727-15C5-9D45-6AC4-764463190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02444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28214-DACB-60D3-539C-CAC1A8E21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136239-E38F-8EDF-B7A9-FB6F6F913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27392-CB51-676E-BFCB-8180A8838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217C3-978E-87D6-85B6-EFF6DA268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6F442-6831-552A-BB96-6CA6B1479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EA330-35D0-77C5-100F-B9FA965A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053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1B475-CB6C-5526-581F-F0C85957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8FB99-EA56-FD08-EE5C-2239721AD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1B45-BFFE-71DD-81DF-993EDC2E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564E8-E05A-D4E0-74BC-A366ACC3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EF4DA-D3AF-CDC0-93C3-B62F3FE5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138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124C7-E03E-A7E8-A0FD-90BD526EDF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C48C6-11BB-2C32-B1E2-0DD94B1D1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7403C-FA6A-7FCF-7230-85313BB2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FAADC-E564-D9B7-71BF-98D72A5B8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0DC17-2E19-8CA1-074A-0B8F74FD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9641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7ABA0-2DDB-19E3-827F-A43376C0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05168-9621-6D12-9669-50DCD97C4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081C-64B6-6432-56D4-2899AE913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F4B426-6847-46D0-8544-63990673D8F1}" type="datetimeFigureOut">
              <a:rPr lang="nl-NL" smtClean="0"/>
              <a:t>30-9-2025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329E0-3CA1-F4C3-CD4E-F17D5C622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9F95-23AE-781E-8FC6-7A2AB48E5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178C6-74B7-467D-86EB-79F3B64E12E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3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orch.org/audio/stable/tutorials/speech_recognition_pipeline_tutorial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8C50-2916-9538-839E-6A6513EF1D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C00000"/>
                </a:solidFill>
              </a:rPr>
              <a:t>End-to-end audio encoding</a:t>
            </a:r>
            <a:br>
              <a:rPr lang="en-GB" dirty="0">
                <a:solidFill>
                  <a:srgbClr val="C00000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and ASR </a:t>
            </a:r>
            <a:br>
              <a:rPr lang="en-GB" dirty="0">
                <a:solidFill>
                  <a:srgbClr val="C00000"/>
                </a:solidFill>
              </a:rPr>
            </a:br>
            <a:r>
              <a:rPr lang="en-GB" dirty="0">
                <a:solidFill>
                  <a:srgbClr val="C00000"/>
                </a:solidFill>
              </a:rPr>
              <a:t>and phonetics</a:t>
            </a:r>
            <a:endParaRPr lang="nl-NL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2E78D-28EC-CE0E-66CB-38072A0A7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(</a:t>
            </a:r>
            <a:r>
              <a:rPr lang="nl-NL" dirty="0" err="1"/>
              <a:t>Interspeech</a:t>
            </a:r>
            <a:r>
              <a:rPr lang="nl-NL" dirty="0"/>
              <a:t> 2023)</a:t>
            </a:r>
          </a:p>
        </p:txBody>
      </p:sp>
    </p:spTree>
    <p:extLst>
      <p:ext uri="{BB962C8B-B14F-4D97-AF65-F5344CB8AC3E}">
        <p14:creationId xmlns:p14="http://schemas.microsoft.com/office/powerpoint/2010/main" val="190819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E17D-1D1D-1DC4-7CD1-F231B06C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Can</a:t>
            </a:r>
            <a:r>
              <a:rPr lang="nl-NL" dirty="0"/>
              <a:t> we </a:t>
            </a:r>
            <a:r>
              <a:rPr lang="nl-NL" dirty="0" err="1"/>
              <a:t>understand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Wav2vec2.0 </a:t>
            </a:r>
            <a:r>
              <a:rPr lang="nl-NL" dirty="0" err="1"/>
              <a:t>distinguishes</a:t>
            </a:r>
            <a:r>
              <a:rPr lang="nl-NL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42D59-DC27-B506-78EC-AD87EE178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Wav2vec2.0</a:t>
            </a:r>
          </a:p>
          <a:p>
            <a:pPr lvl="1"/>
            <a:r>
              <a:rPr lang="en-US" dirty="0"/>
              <a:t>CNN is used as feature encoder</a:t>
            </a:r>
          </a:p>
          <a:p>
            <a:pPr lvl="1"/>
            <a:r>
              <a:rPr lang="en-US" dirty="0"/>
              <a:t>transformer layers are used to map the high-dimensional CNN representations to the elements of some lexicon. </a:t>
            </a:r>
          </a:p>
          <a:p>
            <a:r>
              <a:rPr lang="en-US" dirty="0"/>
              <a:t>We fine-tuned a Wav2vec2.0 system for producing broad </a:t>
            </a:r>
            <a:r>
              <a:rPr lang="en-US" dirty="0">
                <a:highlight>
                  <a:srgbClr val="FFFF00"/>
                </a:highlight>
              </a:rPr>
              <a:t>phonetic</a:t>
            </a:r>
            <a:r>
              <a:rPr lang="en-US" dirty="0"/>
              <a:t> transcriptions of Dutch. </a:t>
            </a:r>
          </a:p>
          <a:p>
            <a:r>
              <a:rPr lang="en-US" dirty="0"/>
              <a:t>We investigate to what extent internal representations of a pre-trained and fine-tuned Wav2vec2.0 model reflect widely-shared phonetic knowledge.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742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F1C7-9A11-0D80-1F86-8459A16B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Software (more details later)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1D884-AA68-5BB9-5BEF-46CA8FE4A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Enormous amount of scripts available on the web</a:t>
            </a:r>
          </a:p>
          <a:p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https://docs.pytorch.org/audio/stable/tutorials/speech_recognition_pipeline_tutorial.html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Huggingface</a:t>
            </a:r>
            <a:endParaRPr lang="en-US" dirty="0"/>
          </a:p>
          <a:p>
            <a:endParaRPr lang="en-US" dirty="0"/>
          </a:p>
          <a:p>
            <a:r>
              <a:rPr lang="en-US" dirty="0"/>
              <a:t>Many more</a:t>
            </a:r>
          </a:p>
          <a:p>
            <a:endParaRPr lang="en-US" dirty="0"/>
          </a:p>
          <a:p>
            <a:r>
              <a:rPr lang="en-US" dirty="0"/>
              <a:t>You can choose yourself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899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51B1-97FA-2A1A-8CA0-2D6100DD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Vowel</a:t>
            </a:r>
            <a:r>
              <a:rPr lang="nl-NL" dirty="0"/>
              <a:t> </a:t>
            </a:r>
            <a:r>
              <a:rPr lang="nl-NL" dirty="0" err="1"/>
              <a:t>structure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4098A-4345-CBC0-D0A5-EA4937FA3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vowels show phonetic structure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focus on the role of phone competition in an end-to-end model by investigating three related aspects: </a:t>
            </a:r>
          </a:p>
          <a:p>
            <a:pPr lvl="1"/>
            <a:r>
              <a:rPr lang="en-US" dirty="0"/>
              <a:t>the Kullback-</a:t>
            </a:r>
            <a:r>
              <a:rPr lang="en-US" dirty="0" err="1"/>
              <a:t>Leibler</a:t>
            </a:r>
            <a:r>
              <a:rPr lang="en-US" dirty="0"/>
              <a:t> divergence between phone pairs, </a:t>
            </a:r>
          </a:p>
          <a:p>
            <a:pPr lvl="1"/>
            <a:r>
              <a:rPr lang="en-US" dirty="0"/>
              <a:t>the within-frame phone ambiguity,</a:t>
            </a:r>
          </a:p>
          <a:p>
            <a:pPr lvl="1"/>
            <a:r>
              <a:rPr lang="en-US" dirty="0"/>
              <a:t>the interpretation of the competition between winning and runner-up phone in terms of ’classical’ phonetic structure.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1F656-5405-1FFA-EEFF-1415D33C1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482" y="1251409"/>
            <a:ext cx="4086795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478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51B1-97FA-2A1A-8CA0-2D6100DD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Phonetic theory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4098A-4345-CBC0-D0A5-EA4937FA3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sz="4400" dirty="0"/>
              <a:t>Phonetic theory “predicts” </a:t>
            </a:r>
          </a:p>
          <a:p>
            <a:pPr marL="0" indent="0">
              <a:buNone/>
            </a:pPr>
            <a:r>
              <a:rPr lang="en-US" sz="4400" dirty="0"/>
              <a:t>	how vowels are organized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endParaRPr lang="en-US" sz="4400" dirty="0"/>
          </a:p>
          <a:p>
            <a:endParaRPr lang="en-US" sz="4400" dirty="0"/>
          </a:p>
          <a:p>
            <a:r>
              <a:rPr lang="en-US" sz="4400" dirty="0"/>
              <a:t>Can we see this in the competition structure in the latent representations in Wav2vec2?</a:t>
            </a:r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1026" name="Picture 2" descr="Acoustic Phonetics: Formants">
            <a:extLst>
              <a:ext uri="{FF2B5EF4-FFF2-40B4-BE49-F238E27FC236}">
                <a16:creationId xmlns:a16="http://schemas.microsoft.com/office/drawing/2014/main" id="{488814CE-3D5A-D9A9-CDF3-CD1229114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288" y="327810"/>
            <a:ext cx="6052565" cy="405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9440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5075A70-675E-83FC-5C9A-0EEB7D13604E}"/>
              </a:ext>
            </a:extLst>
          </p:cNvPr>
          <p:cNvSpPr/>
          <p:nvPr/>
        </p:nvSpPr>
        <p:spPr>
          <a:xfrm>
            <a:off x="1524000" y="1524000"/>
            <a:ext cx="7556938" cy="474016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341DE3-ED2F-02F6-B2EF-E6E669F6CB6D}"/>
              </a:ext>
            </a:extLst>
          </p:cNvPr>
          <p:cNvSpPr/>
          <p:nvPr/>
        </p:nvSpPr>
        <p:spPr>
          <a:xfrm>
            <a:off x="2827283" y="2974428"/>
            <a:ext cx="1450427" cy="183931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E44E63A-07E4-0D5B-79FF-88F90DCD4489}"/>
              </a:ext>
            </a:extLst>
          </p:cNvPr>
          <p:cNvSpPr/>
          <p:nvPr/>
        </p:nvSpPr>
        <p:spPr>
          <a:xfrm>
            <a:off x="5580993" y="2743200"/>
            <a:ext cx="1450427" cy="18393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39569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7994D-5C17-B397-AC10-3EFD7485E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FD585A6-DA19-DC70-E6F5-FB20671F169E}"/>
              </a:ext>
            </a:extLst>
          </p:cNvPr>
          <p:cNvSpPr/>
          <p:nvPr/>
        </p:nvSpPr>
        <p:spPr>
          <a:xfrm>
            <a:off x="1524000" y="1524000"/>
            <a:ext cx="7556938" cy="474016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1A6B817-D29B-F7D8-9B91-B2A0A06D9196}"/>
              </a:ext>
            </a:extLst>
          </p:cNvPr>
          <p:cNvSpPr/>
          <p:nvPr/>
        </p:nvSpPr>
        <p:spPr>
          <a:xfrm>
            <a:off x="2827283" y="2974428"/>
            <a:ext cx="1450427" cy="183931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E6124EF-5768-6F4D-36F4-EC5AAD237CE4}"/>
              </a:ext>
            </a:extLst>
          </p:cNvPr>
          <p:cNvSpPr/>
          <p:nvPr/>
        </p:nvSpPr>
        <p:spPr>
          <a:xfrm>
            <a:off x="5580993" y="2743200"/>
            <a:ext cx="1450427" cy="18393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6656-D65C-59A2-9B64-F8B3E11744D6}"/>
              </a:ext>
            </a:extLst>
          </p:cNvPr>
          <p:cNvSpPr txBox="1"/>
          <p:nvPr/>
        </p:nvSpPr>
        <p:spPr>
          <a:xfrm>
            <a:off x="2659117" y="1839310"/>
            <a:ext cx="2143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Spatial organization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75428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46FDC-E18D-65B4-EF46-2B00369F8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816AABA-924F-9E04-6774-527937513B38}"/>
              </a:ext>
            </a:extLst>
          </p:cNvPr>
          <p:cNvSpPr/>
          <p:nvPr/>
        </p:nvSpPr>
        <p:spPr>
          <a:xfrm>
            <a:off x="1524000" y="1524000"/>
            <a:ext cx="7556938" cy="474016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B63A0CC-0823-2D76-6365-C224BC5347C0}"/>
              </a:ext>
            </a:extLst>
          </p:cNvPr>
          <p:cNvSpPr/>
          <p:nvPr/>
        </p:nvSpPr>
        <p:spPr>
          <a:xfrm>
            <a:off x="2827283" y="2974428"/>
            <a:ext cx="1450427" cy="183931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D83D21A-EBC7-C544-0145-92AEAA2ED2D5}"/>
              </a:ext>
            </a:extLst>
          </p:cNvPr>
          <p:cNvSpPr/>
          <p:nvPr/>
        </p:nvSpPr>
        <p:spPr>
          <a:xfrm>
            <a:off x="5580993" y="2743200"/>
            <a:ext cx="1450427" cy="18393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A93586-B1C8-D2BD-C173-D9EEC6F895A8}"/>
              </a:ext>
            </a:extLst>
          </p:cNvPr>
          <p:cNvSpPr/>
          <p:nvPr/>
        </p:nvSpPr>
        <p:spPr>
          <a:xfrm>
            <a:off x="4277710" y="4382814"/>
            <a:ext cx="73573" cy="18813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19814-C612-B5AF-FE58-22B47EAD4E46}"/>
              </a:ext>
            </a:extLst>
          </p:cNvPr>
          <p:cNvSpPr/>
          <p:nvPr/>
        </p:nvSpPr>
        <p:spPr>
          <a:xfrm>
            <a:off x="4272458" y="5948853"/>
            <a:ext cx="73573" cy="520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1403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9DB9B-DA5B-7E8A-C6C7-7FD02CBEB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72139D0A-341D-4BFC-8203-543D30E3E8A1}"/>
              </a:ext>
            </a:extLst>
          </p:cNvPr>
          <p:cNvSpPr/>
          <p:nvPr/>
        </p:nvSpPr>
        <p:spPr>
          <a:xfrm>
            <a:off x="1524000" y="1524000"/>
            <a:ext cx="7556938" cy="474016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FFB9FFE-9233-CBD2-761A-7877184B541D}"/>
              </a:ext>
            </a:extLst>
          </p:cNvPr>
          <p:cNvSpPr/>
          <p:nvPr/>
        </p:nvSpPr>
        <p:spPr>
          <a:xfrm>
            <a:off x="2827283" y="2974428"/>
            <a:ext cx="1450427" cy="183931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D46E4A-B965-A02E-1AD7-20D457C6767D}"/>
              </a:ext>
            </a:extLst>
          </p:cNvPr>
          <p:cNvSpPr/>
          <p:nvPr/>
        </p:nvSpPr>
        <p:spPr>
          <a:xfrm>
            <a:off x="5580993" y="2743200"/>
            <a:ext cx="1450427" cy="18393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64194A-94F0-0DEA-6CD7-F1C21E52C806}"/>
              </a:ext>
            </a:extLst>
          </p:cNvPr>
          <p:cNvSpPr/>
          <p:nvPr/>
        </p:nvSpPr>
        <p:spPr>
          <a:xfrm>
            <a:off x="4277710" y="4382814"/>
            <a:ext cx="73573" cy="18813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F52169-EFA6-25B6-61FF-1756E694CA3E}"/>
              </a:ext>
            </a:extLst>
          </p:cNvPr>
          <p:cNvSpPr/>
          <p:nvPr/>
        </p:nvSpPr>
        <p:spPr>
          <a:xfrm>
            <a:off x="4272458" y="5948853"/>
            <a:ext cx="73573" cy="52026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5A95E6-B1D1-E94D-E3C8-08CD4E372AB9}"/>
              </a:ext>
            </a:extLst>
          </p:cNvPr>
          <p:cNvSpPr txBox="1"/>
          <p:nvPr/>
        </p:nvSpPr>
        <p:spPr>
          <a:xfrm>
            <a:off x="2827283" y="6435382"/>
            <a:ext cx="4521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Probability vector </a:t>
            </a:r>
            <a:r>
              <a:rPr lang="en-GB" dirty="0">
                <a:sym typeface="Wingdings" panose="05000000000000000000" pitchFamily="2" charset="2"/>
              </a:rPr>
              <a:t> c</a:t>
            </a:r>
            <a:r>
              <a:rPr lang="en-GB" dirty="0"/>
              <a:t>ompetition </a:t>
            </a:r>
            <a:r>
              <a:rPr lang="en-GB" dirty="0">
                <a:sym typeface="Wingdings" panose="05000000000000000000" pitchFamily="2" charset="2"/>
              </a:rPr>
              <a:t> entropy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0167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9D1F-B7AE-943A-E8FF-29A264A4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 dirty="0"/>
              <a:t>Data, model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B7CF1-511A-2DE3-CB83-D26AE3C7B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News broadcast component (component 'k') from the Spoken Dutch Corpus (CGN, 27 hours of materials)</a:t>
            </a:r>
          </a:p>
          <a:p>
            <a:endParaRPr lang="en-US" sz="2400" dirty="0"/>
          </a:p>
          <a:p>
            <a:r>
              <a:rPr lang="en-US" sz="2400" dirty="0"/>
              <a:t>Wav2vec2  system was finetuned towards the classification of 37 phones in Dutch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3518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D9D1F-B7AE-943A-E8FF-29A264A40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4800" dirty="0"/>
              <a:t>Method 1 (‘</a:t>
            </a:r>
            <a:r>
              <a:rPr lang="nl-NL" sz="4800" dirty="0" err="1"/>
              <a:t>horizontal</a:t>
            </a:r>
            <a:r>
              <a:rPr lang="nl-NL" sz="4800" dirty="0"/>
              <a:t>’)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B7CF1-511A-2DE3-CB83-D26AE3C7B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Decode utterances from a corpus</a:t>
            </a:r>
          </a:p>
          <a:p>
            <a:pPr lvl="1"/>
            <a:r>
              <a:rPr lang="en-US" dirty="0"/>
              <a:t>the news broadcast component (component 'k') from the Spoken Dutch Corpus  (27 hours of materials) </a:t>
            </a:r>
          </a:p>
          <a:p>
            <a:r>
              <a:rPr lang="en-US" dirty="0"/>
              <a:t>S2T finetuned towards the classification of 37 phones in Dutch. </a:t>
            </a:r>
          </a:p>
          <a:p>
            <a:r>
              <a:rPr lang="en-US" dirty="0"/>
              <a:t>store the 1024-D representations on all hidden layers for all utterances</a:t>
            </a:r>
          </a:p>
          <a:p>
            <a:pPr lvl="1"/>
            <a:r>
              <a:rPr lang="en-US" dirty="0"/>
              <a:t>Also the 512-D CNN representations</a:t>
            </a:r>
          </a:p>
          <a:p>
            <a:r>
              <a:rPr lang="en-US" dirty="0"/>
              <a:t>K-Means clustering to create codebooks with 512 entries, and replaced the 512-D or 1024-D frame vectors with the number of the closest code word (using Euclidean distance). </a:t>
            </a:r>
          </a:p>
          <a:p>
            <a:r>
              <a:rPr lang="en-US" dirty="0"/>
              <a:t>For each of the 37 phone labels: we construct a histogram of the resulting code word counts from which we obtained 512-D vectors that describe p(frame | phone). </a:t>
            </a:r>
          </a:p>
          <a:p>
            <a:r>
              <a:rPr lang="en-US" dirty="0"/>
              <a:t>Kullback-</a:t>
            </a:r>
            <a:r>
              <a:rPr lang="en-US" dirty="0" err="1"/>
              <a:t>Leibler</a:t>
            </a:r>
            <a:r>
              <a:rPr lang="en-US" dirty="0"/>
              <a:t> (KL) divergence between all pairs of phone probability vectors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99372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8772DFC-8224-A8FC-B8AE-A72D024BA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D3E28-D601-C503-2473-0EC2EF50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Method 1</a:t>
            </a:r>
            <a:endParaRPr lang="nl-NL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F4893-98D2-3C25-CFC0-6BAABA933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Store the 1024-D representations on all hidden layers for all utterances</a:t>
            </a:r>
          </a:p>
          <a:p>
            <a:pPr lvl="1"/>
            <a:r>
              <a:rPr lang="en-US" sz="2400" dirty="0"/>
              <a:t>And the 512-D CNN representations, which are as close as we can come to the speech signals</a:t>
            </a:r>
          </a:p>
          <a:p>
            <a:pPr lvl="1"/>
            <a:endParaRPr lang="en-US" sz="2400" dirty="0"/>
          </a:p>
          <a:p>
            <a:r>
              <a:rPr lang="en-US" sz="2400" dirty="0" err="1"/>
              <a:t>KMeans</a:t>
            </a:r>
            <a:r>
              <a:rPr lang="en-US" sz="2400" dirty="0"/>
              <a:t> clustering to create codebooks with 512 entries</a:t>
            </a:r>
          </a:p>
          <a:p>
            <a:pPr lvl="1"/>
            <a:r>
              <a:rPr lang="en-US" sz="2400" dirty="0"/>
              <a:t>Euclidean distance</a:t>
            </a:r>
          </a:p>
          <a:p>
            <a:endParaRPr lang="en-US" sz="2400" dirty="0"/>
          </a:p>
          <a:p>
            <a:r>
              <a:rPr lang="en-US" sz="2400" dirty="0"/>
              <a:t>Each phone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a histogram that describes p(state | phone)</a:t>
            </a:r>
          </a:p>
          <a:p>
            <a:endParaRPr lang="en-US" sz="2400" dirty="0"/>
          </a:p>
          <a:p>
            <a:r>
              <a:rPr lang="en-US" sz="2400" dirty="0"/>
              <a:t>the </a:t>
            </a:r>
            <a:r>
              <a:rPr lang="en-US" sz="2400" dirty="0" err="1"/>
              <a:t>Kullback-Leibler</a:t>
            </a:r>
            <a:r>
              <a:rPr lang="en-US" sz="2400" dirty="0"/>
              <a:t> (KL) divergence for all phone pairs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987549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A2F93-6366-CDC1-EB4A-DE89938C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 </a:t>
            </a:r>
            <a:r>
              <a:rPr lang="nl-NL" dirty="0" err="1"/>
              <a:t>divergence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A12AD-A0B2-DF5B-8DA9-9BE9E083D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Figure on next slide shows the (non-symmetric) KL divergence for all phone pairs for the representations on the CNN output layer and layers nr 12 and 24 in the transformer. </a:t>
            </a:r>
          </a:p>
          <a:p>
            <a:r>
              <a:rPr lang="en-US" dirty="0"/>
              <a:t>It can be seen that on the CNN layer there is some evidence of acoustic-phonetic structure, but on the (higher) transformer layers that structure is much less apparent. </a:t>
            </a:r>
          </a:p>
          <a:p>
            <a:r>
              <a:rPr lang="en-US" dirty="0"/>
              <a:t>Importantly, this does not mean that those representations contain weaker phonetic information.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49099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ue squares&#10;&#10;AI-generated content may be incorrect.">
            <a:extLst>
              <a:ext uri="{FF2B5EF4-FFF2-40B4-BE49-F238E27FC236}">
                <a16:creationId xmlns:a16="http://schemas.microsoft.com/office/drawing/2014/main" id="{1EF919C5-CEED-D5B1-5E8C-3F1E7C0BC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" y="472795"/>
            <a:ext cx="10692384" cy="31882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8BD03B-A84A-9D1E-1BBB-1C6B79C5CA87}"/>
              </a:ext>
            </a:extLst>
          </p:cNvPr>
          <p:cNvSpPr txBox="1"/>
          <p:nvPr/>
        </p:nvSpPr>
        <p:spPr>
          <a:xfrm>
            <a:off x="1218438" y="4046803"/>
            <a:ext cx="99645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Figure shows (non-symmetric) KL divergence for all phone pairs </a:t>
            </a:r>
          </a:p>
          <a:p>
            <a:r>
              <a:rPr lang="en-US" sz="2400" dirty="0"/>
              <a:t>for the representations on the CNN output layer and layers nr 12 and 24 in the transformer</a:t>
            </a:r>
          </a:p>
          <a:p>
            <a:endParaRPr lang="en-US" sz="2400" dirty="0"/>
          </a:p>
          <a:p>
            <a:r>
              <a:rPr lang="en-US" sz="2400" dirty="0"/>
              <a:t>CNN layer: there is some evidence of acoustic-phonetic structure, </a:t>
            </a:r>
          </a:p>
          <a:p>
            <a:r>
              <a:rPr lang="en-US" sz="2400" dirty="0"/>
              <a:t>but on the (higher) transformer layers that structure is much less apparent</a:t>
            </a:r>
          </a:p>
        </p:txBody>
      </p:sp>
    </p:spTree>
    <p:extLst>
      <p:ext uri="{BB962C8B-B14F-4D97-AF65-F5344CB8AC3E}">
        <p14:creationId xmlns:p14="http://schemas.microsoft.com/office/powerpoint/2010/main" val="2950648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0381-A8C8-322F-B8B9-57ED6FE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Probing</a:t>
            </a:r>
            <a:r>
              <a:rPr lang="nl-NL" dirty="0"/>
              <a:t> </a:t>
            </a:r>
            <a:r>
              <a:rPr lang="nl-NL" dirty="0" err="1"/>
              <a:t>classifiers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3FD55-FB00-F1EC-87DE-D7860284C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Classification accuracy (%) of the MLP phone classifiers on a held-out test set in the Spoken Dutch Corpus.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3FF9E4-0CFD-C1CE-A83A-5ECD6B8C6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09911"/>
              </p:ext>
            </p:extLst>
          </p:nvPr>
        </p:nvGraphicFramePr>
        <p:xfrm>
          <a:off x="1605280" y="311742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755993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6786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894829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96504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layer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pretrained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Finetuned (CTC)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873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CNN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69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315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84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93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21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12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92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94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20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24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94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98</a:t>
                      </a:r>
                      <a:endParaRPr lang="en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289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1459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904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923B3-7881-29D1-239D-BFE8ADAF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5BB4F-B465-3DA3-7313-2B15169EA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Figure 2 shows that, across the board, there is a sub-</a:t>
            </a:r>
            <a:r>
              <a:rPr lang="en-US" dirty="0" err="1"/>
              <a:t>stantial</a:t>
            </a:r>
            <a:r>
              <a:rPr lang="en-US" dirty="0"/>
              <a:t> difference between BPCs and the random phone sets in terms of the KL divergence with the observed MLP-based phone PDFs.</a:t>
            </a:r>
          </a:p>
          <a:p>
            <a:r>
              <a:rPr lang="en-US" dirty="0"/>
              <a:t>Clearly, the comparison differs for the different layers in the Wav2vec2 model, and is different for the pretrained and finetuned variant. </a:t>
            </a:r>
          </a:p>
          <a:p>
            <a:r>
              <a:rPr lang="en-US" dirty="0"/>
              <a:t>Interestingly, the KL-divergence does not differ for layer 24 from the CTC fine-tuned model, while the MLP phone classifier performed best in the phone classification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3776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755A1-D242-DA61-03B5-5EC2597FA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different colored boxes&#10;&#10;AI-generated content may be incorrect.">
            <a:extLst>
              <a:ext uri="{FF2B5EF4-FFF2-40B4-BE49-F238E27FC236}">
                <a16:creationId xmlns:a16="http://schemas.microsoft.com/office/drawing/2014/main" id="{F494BDB7-3133-B8B1-CF23-09F0951A84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28" y="201749"/>
            <a:ext cx="5852172" cy="4389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7FD983-C1A4-23DB-1AF8-AAAA63DE92E2}"/>
              </a:ext>
            </a:extLst>
          </p:cNvPr>
          <p:cNvSpPr txBox="1"/>
          <p:nvPr/>
        </p:nvSpPr>
        <p:spPr>
          <a:xfrm>
            <a:off x="6000750" y="549653"/>
            <a:ext cx="267190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2: The distribution of KL-divergences scores for BPC PDF, random PDF and the difference </a:t>
            </a:r>
          </a:p>
          <a:p>
            <a:r>
              <a:rPr lang="en-US" dirty="0"/>
              <a:t>between the KL-divergence scores for BPC and random. </a:t>
            </a:r>
          </a:p>
          <a:p>
            <a:r>
              <a:rPr lang="en-US" dirty="0"/>
              <a:t>The negative values are only present for the difference between the </a:t>
            </a:r>
          </a:p>
          <a:p>
            <a:r>
              <a:rPr lang="en-US" dirty="0"/>
              <a:t>BPC and random based KL-divergence scores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DCE891-B56A-6743-EDB9-D6E46720BF13}"/>
              </a:ext>
            </a:extLst>
          </p:cNvPr>
          <p:cNvSpPr txBox="1"/>
          <p:nvPr/>
        </p:nvSpPr>
        <p:spPr>
          <a:xfrm>
            <a:off x="9452611" y="480060"/>
            <a:ext cx="2636519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Clearly, the comparison differs for the different layers in the Wav2vec2 model, and is different for the pretrained and finetuned variant. Interestingly, the KL-divergence does not differ for layer 24 from the CTC fine-tuned model, while the MLP phone classifier performed best in the phone classification</a:t>
            </a:r>
            <a:endParaRPr lang="nl-NL" sz="16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29355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3054-46ED-D08A-6741-B67D3977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Probing</a:t>
            </a:r>
            <a:r>
              <a:rPr lang="nl-NL" dirty="0"/>
              <a:t> (‘</a:t>
            </a:r>
            <a:r>
              <a:rPr lang="nl-NL" dirty="0" err="1"/>
              <a:t>horizontal</a:t>
            </a:r>
            <a:r>
              <a:rPr lang="nl-NL" dirty="0"/>
              <a:t>’)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F9155-A50C-B442-B6DC-34CEFAE65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show that MLP-based classifiers perform adequately on the latent representations for all layers while the internal phone-phone structure shows a varying pattern across layers. </a:t>
            </a:r>
          </a:p>
          <a:p>
            <a:r>
              <a:rPr lang="en-US" dirty="0"/>
              <a:t>This suggests that while phone classifiers are able to produce a likely correct winner, given a latent representation, a phonetically motivated phone-phone structure in the latent space is not necessary. </a:t>
            </a:r>
          </a:p>
          <a:p>
            <a:r>
              <a:rPr lang="en-US" dirty="0"/>
              <a:t>Details see papers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599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0381-A8C8-322F-B8B9-57ED6FEDD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Probing classifier (MLP)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3FD55-FB00-F1EC-87DE-D7860284C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0169" y="1975945"/>
            <a:ext cx="6997685" cy="122944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4500" dirty="0"/>
              <a:t>The table presents the </a:t>
            </a:r>
            <a:r>
              <a:rPr lang="en-US" sz="4500" b="1" dirty="0"/>
              <a:t>phone classification accuracy </a:t>
            </a:r>
            <a:r>
              <a:rPr lang="en-US" sz="4500" dirty="0"/>
              <a:t>(%) on an independent held out test set from component ’o’ in the Spoken Dutch Corpus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495FC9-5BE1-3B7F-7527-B3F3B1B3F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110090"/>
              </p:ext>
            </p:extLst>
          </p:nvPr>
        </p:nvGraphicFramePr>
        <p:xfrm>
          <a:off x="2606215" y="3528062"/>
          <a:ext cx="677163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7213">
                  <a:extLst>
                    <a:ext uri="{9D8B030D-6E8A-4147-A177-3AD203B41FA5}">
                      <a16:colId xmlns:a16="http://schemas.microsoft.com/office/drawing/2014/main" val="562562978"/>
                    </a:ext>
                  </a:extLst>
                </a:gridCol>
                <a:gridCol w="2257213">
                  <a:extLst>
                    <a:ext uri="{9D8B030D-6E8A-4147-A177-3AD203B41FA5}">
                      <a16:colId xmlns:a16="http://schemas.microsoft.com/office/drawing/2014/main" val="246755208"/>
                    </a:ext>
                  </a:extLst>
                </a:gridCol>
                <a:gridCol w="2257213">
                  <a:extLst>
                    <a:ext uri="{9D8B030D-6E8A-4147-A177-3AD203B41FA5}">
                      <a16:colId xmlns:a16="http://schemas.microsoft.com/office/drawing/2014/main" val="3435714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Pretrained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Finetuned (CTC)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613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CNN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69 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460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473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92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817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24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98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219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42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983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71DBF-51AD-A14B-15CB-983B83D61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E4D0-1325-5614-A1CC-DF42DB0A0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Method 2: ‘</a:t>
            </a:r>
            <a:r>
              <a:rPr lang="nl-NL" dirty="0" err="1"/>
              <a:t>vertical</a:t>
            </a:r>
            <a:r>
              <a:rPr lang="nl-NL" dirty="0"/>
              <a:t>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562C6-5BAE-9B59-6511-E672F23F3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trained MLPs, we study the competition between phones according to the MLP output vector.</a:t>
            </a:r>
          </a:p>
          <a:p>
            <a:r>
              <a:rPr lang="en-US" dirty="0"/>
              <a:t>by counting the number of times a given phone appears as the runner-up of a winning phone. </a:t>
            </a:r>
          </a:p>
          <a:p>
            <a:r>
              <a:rPr lang="en-US" dirty="0"/>
              <a:t>Figure 3 gives an overview of the percentage of runner-up phones sharing the same BPC as the winning phone, across all MLP-output vectors on a particular layer. </a:t>
            </a:r>
          </a:p>
          <a:p>
            <a:r>
              <a:rPr lang="en-US" dirty="0"/>
              <a:t>BPC = broad phonetic class </a:t>
            </a:r>
          </a:p>
          <a:p>
            <a:pPr lvl="1"/>
            <a:r>
              <a:rPr lang="en-US" dirty="0"/>
              <a:t>{</a:t>
            </a:r>
            <a:r>
              <a:rPr lang="en-US" dirty="0" err="1"/>
              <a:t>p,t,k</a:t>
            </a:r>
            <a:r>
              <a:rPr lang="en-US" dirty="0"/>
              <a:t>}, {</a:t>
            </a:r>
            <a:r>
              <a:rPr lang="en-US" dirty="0" err="1"/>
              <a:t>b,g,d</a:t>
            </a:r>
            <a:r>
              <a:rPr lang="en-US" dirty="0"/>
              <a:t>}, {</a:t>
            </a:r>
            <a:r>
              <a:rPr lang="en-US" dirty="0" err="1"/>
              <a:t>s,z</a:t>
            </a:r>
            <a:r>
              <a:rPr lang="en-US" dirty="0"/>
              <a:t>} {f, v} {i, e}, {..}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618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3214-66E1-D44F-717E-F718671A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Phone–</a:t>
            </a:r>
            <a:r>
              <a:rPr lang="nl-NL" dirty="0" err="1"/>
              <a:t>phone</a:t>
            </a:r>
            <a:r>
              <a:rPr lang="nl-NL" dirty="0"/>
              <a:t> </a:t>
            </a:r>
            <a:r>
              <a:rPr lang="nl-NL" dirty="0" err="1"/>
              <a:t>competition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A1A94-E8EF-6F45-10F8-E2F4A2DAA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Fig. 3 shows the intrinsic phone-phone competition per MLP input vector, that is, at a given location in the latent space. </a:t>
            </a:r>
          </a:p>
          <a:p>
            <a:r>
              <a:rPr lang="en-US" dirty="0"/>
              <a:t>It raises the question </a:t>
            </a:r>
            <a:r>
              <a:rPr lang="en-US" dirty="0">
                <a:highlight>
                  <a:srgbClr val="FFFF00"/>
                </a:highlight>
              </a:rPr>
              <a:t>to what extent these runners-up reveal information about the intrinsic phonetic structure</a:t>
            </a:r>
            <a:r>
              <a:rPr lang="en-US" dirty="0"/>
              <a:t>. Evidently it can be expected that the overall statistics of the runner-up is informed by the phonetic neighborhood of the winning phone. </a:t>
            </a:r>
          </a:p>
          <a:p>
            <a:r>
              <a:rPr lang="en-US" dirty="0"/>
              <a:t>For the </a:t>
            </a:r>
            <a:r>
              <a:rPr lang="en-US" dirty="0" err="1"/>
              <a:t>plosives,nasals</a:t>
            </a:r>
            <a:r>
              <a:rPr lang="en-US" dirty="0"/>
              <a:t> and fricatives this occurs fairly often even in the middle layers of the model, while this is not the case for the high, some middle and low vowels. </a:t>
            </a:r>
          </a:p>
        </p:txBody>
      </p:sp>
    </p:spTree>
    <p:extLst>
      <p:ext uri="{BB962C8B-B14F-4D97-AF65-F5344CB8AC3E}">
        <p14:creationId xmlns:p14="http://schemas.microsoft.com/office/powerpoint/2010/main" val="436800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3DE5-6891-744D-D15D-08ECFC1F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0C5B5CAC-924C-6FC2-C35C-E6C587FA4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132" y="33264"/>
            <a:ext cx="607764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824AF7-3969-8762-C36F-B9353AB80087}"/>
              </a:ext>
            </a:extLst>
          </p:cNvPr>
          <p:cNvSpPr txBox="1"/>
          <p:nvPr/>
        </p:nvSpPr>
        <p:spPr>
          <a:xfrm>
            <a:off x="462455" y="1003789"/>
            <a:ext cx="4803228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Figure 3: The percentage of second-best phones sharing the same broad phonetic class as the winning phone (y-axis), as classified by the multi-layer perceptron trained on a </a:t>
            </a:r>
          </a:p>
          <a:p>
            <a:r>
              <a:rPr lang="en-US" sz="2400" dirty="0"/>
              <a:t>given layer(x-axis) of the Wav2vec2 model.</a:t>
            </a:r>
          </a:p>
          <a:p>
            <a:endParaRPr lang="en-US" sz="2400" dirty="0"/>
          </a:p>
          <a:p>
            <a:r>
              <a:rPr lang="en-US" sz="2400" dirty="0"/>
              <a:t>Three million (winner, runner-up) pairs</a:t>
            </a:r>
            <a:endParaRPr lang="en-US" sz="2400" dirty="0">
              <a:cs typeface="Arial"/>
            </a:endParaRPr>
          </a:p>
          <a:p>
            <a:endParaRPr lang="en-US" sz="2400" dirty="0"/>
          </a:p>
          <a:p>
            <a:r>
              <a:rPr lang="en-US" sz="2400" dirty="0"/>
              <a:t>Left: pre-trained </a:t>
            </a:r>
          </a:p>
          <a:p>
            <a:r>
              <a:rPr lang="en-US" sz="2400" dirty="0"/>
              <a:t>Right: </a:t>
            </a:r>
            <a:r>
              <a:rPr lang="en-US" sz="2400" dirty="0" err="1"/>
              <a:t>ctc</a:t>
            </a:r>
            <a:r>
              <a:rPr lang="en-US" sz="2400" dirty="0"/>
              <a:t> fine-tuned.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36348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28998-979A-2299-7DE7-6136A7886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Probability</a:t>
            </a:r>
            <a:r>
              <a:rPr lang="nl-NL" dirty="0"/>
              <a:t> </a:t>
            </a:r>
            <a:r>
              <a:rPr lang="nl-NL" dirty="0">
                <a:sym typeface="Wingdings" panose="05000000000000000000" pitchFamily="2" charset="2"/>
              </a:rPr>
              <a:t> </a:t>
            </a:r>
            <a:r>
              <a:rPr lang="nl-NL" dirty="0" err="1">
                <a:sym typeface="Wingdings" panose="05000000000000000000" pitchFamily="2" charset="2"/>
              </a:rPr>
              <a:t>distance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29A24-820E-4EFB-F9ED-36B914D4A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highlight>
                  <a:srgbClr val="FFFF00"/>
                </a:highlight>
              </a:rPr>
              <a:t>d ∼ 1/(N + R)</a:t>
            </a:r>
          </a:p>
          <a:p>
            <a:r>
              <a:rPr lang="en-US" dirty="0"/>
              <a:t>in which d denotes the distance between winning phone and runner-up, N denotes the number of counts of the runner-up given the winner phone, and R is a </a:t>
            </a:r>
            <a:r>
              <a:rPr lang="en-US" dirty="0" err="1"/>
              <a:t>regularisation</a:t>
            </a:r>
            <a:r>
              <a:rPr lang="en-US" dirty="0"/>
              <a:t> term that corrects for very infrequent combinations. </a:t>
            </a:r>
          </a:p>
          <a:p>
            <a:pPr lvl="1"/>
            <a:r>
              <a:rPr lang="en-US" dirty="0"/>
              <a:t>These infrequent combinations will certainly appear since, for example, /p/ will hardly occur as second candidate after /a/. </a:t>
            </a:r>
          </a:p>
          <a:p>
            <a:pPr lvl="1"/>
            <a:r>
              <a:rPr lang="en-US" dirty="0"/>
              <a:t>In those cases, the formula predicts a large distance d between /a/ and /p/, and its numerical </a:t>
            </a:r>
            <a:r>
              <a:rPr lang="en-US"/>
              <a:t>upperbound</a:t>
            </a:r>
            <a:r>
              <a:rPr lang="en-US" dirty="0"/>
              <a:t> is determined by R.</a:t>
            </a:r>
          </a:p>
          <a:p>
            <a:r>
              <a:rPr lang="en-US" dirty="0"/>
              <a:t>Next, we use multi-dimensional scaling (MDS) to build a global 2D map, based on the phone-phone distances d. </a:t>
            </a:r>
          </a:p>
          <a:p>
            <a:pPr lvl="1"/>
            <a:r>
              <a:rPr lang="en-US" dirty="0"/>
              <a:t>We used MDS rather than other visual-</a:t>
            </a:r>
            <a:r>
              <a:rPr lang="en-US" dirty="0" err="1"/>
              <a:t>ization</a:t>
            </a:r>
            <a:r>
              <a:rPr lang="en-US" dirty="0"/>
              <a:t> methods such as t-Distributed Stochastic Neighbor Embedding (t-SNE) since we focus on the local and global relations between phones instead of on clustering.</a:t>
            </a:r>
          </a:p>
        </p:txBody>
      </p:sp>
    </p:spTree>
    <p:extLst>
      <p:ext uri="{BB962C8B-B14F-4D97-AF65-F5344CB8AC3E}">
        <p14:creationId xmlns:p14="http://schemas.microsoft.com/office/powerpoint/2010/main" val="1737926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70F72-4AF9-A584-ADA4-6C7DC037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E14BDAAB-A6A9-ADE9-415D-53E0724C0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440" y="260033"/>
            <a:ext cx="6998971" cy="524922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3E6C2F-F15D-C4CD-274F-0AE2BAE6F7DB}"/>
              </a:ext>
            </a:extLst>
          </p:cNvPr>
          <p:cNvSpPr txBox="1"/>
          <p:nvPr/>
        </p:nvSpPr>
        <p:spPr>
          <a:xfrm>
            <a:off x="8029903" y="765810"/>
            <a:ext cx="327114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Study 3</a:t>
            </a:r>
            <a:r>
              <a:rPr lang="nl-NL" sz="2400" dirty="0"/>
              <a:t>. </a:t>
            </a:r>
            <a:r>
              <a:rPr lang="nl-NL" sz="2400" dirty="0" err="1"/>
              <a:t>Competition</a:t>
            </a:r>
            <a:endParaRPr lang="nl-NL" sz="2400" dirty="0"/>
          </a:p>
          <a:p>
            <a:endParaRPr lang="nl-NL" sz="2400" dirty="0"/>
          </a:p>
          <a:p>
            <a:r>
              <a:rPr lang="nl-NL" sz="2400" dirty="0" err="1"/>
              <a:t>This</a:t>
            </a:r>
            <a:r>
              <a:rPr lang="nl-NL" sz="2400" dirty="0"/>
              <a:t> </a:t>
            </a:r>
            <a:r>
              <a:rPr lang="nl-NL" sz="2400" dirty="0" err="1"/>
              <a:t>figure</a:t>
            </a:r>
            <a:r>
              <a:rPr lang="nl-NL" sz="2400" dirty="0"/>
              <a:t> shows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competition</a:t>
            </a:r>
            <a:r>
              <a:rPr lang="nl-NL" sz="2400" dirty="0"/>
              <a:t> </a:t>
            </a:r>
            <a:r>
              <a:rPr lang="nl-NL" sz="2400" dirty="0" err="1"/>
              <a:t>between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winner </a:t>
            </a:r>
            <a:r>
              <a:rPr lang="nl-NL" sz="2400" dirty="0" err="1"/>
              <a:t>phone</a:t>
            </a:r>
            <a:r>
              <a:rPr lang="nl-NL" sz="2400" dirty="0"/>
              <a:t>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runner up in </a:t>
            </a:r>
            <a:r>
              <a:rPr lang="nl-NL" sz="2400" dirty="0" err="1"/>
              <a:t>terms</a:t>
            </a:r>
            <a:r>
              <a:rPr lang="nl-NL" sz="2400" dirty="0"/>
              <a:t> of </a:t>
            </a:r>
            <a:r>
              <a:rPr lang="nl-NL" sz="2400" dirty="0" err="1"/>
              <a:t>their</a:t>
            </a:r>
            <a:r>
              <a:rPr lang="nl-NL" sz="2400" dirty="0"/>
              <a:t> scores in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logit</a:t>
            </a:r>
            <a:r>
              <a:rPr lang="nl-NL" sz="2400" dirty="0"/>
              <a:t> matrix (</a:t>
            </a:r>
            <a:r>
              <a:rPr lang="nl-NL" sz="2400" dirty="0" err="1"/>
              <a:t>the</a:t>
            </a:r>
            <a:r>
              <a:rPr lang="nl-NL" sz="2400" dirty="0"/>
              <a:t> ratio)</a:t>
            </a:r>
          </a:p>
          <a:p>
            <a:endParaRPr lang="nl-NL" sz="2400" dirty="0"/>
          </a:p>
          <a:p>
            <a:r>
              <a:rPr lang="nl-NL" sz="2400" dirty="0"/>
              <a:t>The bulk has a low </a:t>
            </a:r>
            <a:r>
              <a:rPr lang="nl-NL" sz="2400" dirty="0" err="1"/>
              <a:t>entropy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32459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93054-46ED-D08A-6741-B67D3977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suggest that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F9155-A50C-B442-B6DC-34CEFAE65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MLP-based classifiers perform adequately on the latent representations for all layers</a:t>
            </a:r>
          </a:p>
          <a:p>
            <a:endParaRPr lang="en-US" sz="2400" dirty="0"/>
          </a:p>
          <a:p>
            <a:r>
              <a:rPr lang="en-US" sz="2400" dirty="0"/>
              <a:t>phone-phone structure shows a varying pattern across layers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while phone classifiers are able to produce a likely correct winner given a latent representation, a phonetically motivated phone-phone structure in the latent space is not necessary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 order to investigate this further, we study the competition between phones according to the MLP classification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48432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ACD80-F62A-D754-B6A3-CFCC7F7CF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E5056-58E4-695A-3B78-551DC639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100" dirty="0">
                <a:cs typeface="Arial"/>
              </a:rPr>
              <a:t>(Winner, runner-up) -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44733-9388-5626-4088-960F12061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959" y="1265373"/>
            <a:ext cx="10463894" cy="3592378"/>
          </a:xfrm>
        </p:spPr>
        <p:txBody>
          <a:bodyPr>
            <a:normAutofit/>
          </a:bodyPr>
          <a:lstStyle/>
          <a:p>
            <a:r>
              <a:rPr lang="en-US" sz="2400" dirty="0"/>
              <a:t>We zoom in into the statistics of the recognized phone and its runner-up, by counting the number of times a given phone appears as the runner-up of a winning phone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N(</a:t>
            </a:r>
            <a:r>
              <a:rPr lang="en-US" sz="2400" dirty="0" err="1"/>
              <a:t>runner_up</a:t>
            </a:r>
            <a:r>
              <a:rPr lang="en-US" sz="2400" dirty="0"/>
              <a:t> | winning phone)</a:t>
            </a:r>
          </a:p>
          <a:p>
            <a:endParaRPr lang="en-US" sz="2400" dirty="0"/>
          </a:p>
          <a:p>
            <a:r>
              <a:rPr lang="en-US" sz="2400" dirty="0"/>
              <a:t>Next figure gives a pictorial overview of the percentage of runner-up phones sharing the same broad phonetic class (BPC) as the winning phone, a cross all MLP-output vectors on a particular layer. 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62826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F588-38C9-BB4A-D7B0-19EA8A6F2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a transformer layer&#10;&#10;AI-generated content may be incorrect.">
            <a:extLst>
              <a:ext uri="{FF2B5EF4-FFF2-40B4-BE49-F238E27FC236}">
                <a16:creationId xmlns:a16="http://schemas.microsoft.com/office/drawing/2014/main" id="{60586287-C358-F4A9-ADFA-87606CCA0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781" y="1810409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03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EBD6-2E69-C7F4-F603-27706CBA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diagram of a graph&#10;&#10;AI-generated content may be incorrect.">
            <a:extLst>
              <a:ext uri="{FF2B5EF4-FFF2-40B4-BE49-F238E27FC236}">
                <a16:creationId xmlns:a16="http://schemas.microsoft.com/office/drawing/2014/main" id="{55734811-1951-9010-F6E4-DB114D3C9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781" y="1828018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6251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95A88-40C8-8462-86E9-73062C93D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diagram of a graph&#10;&#10;AI-generated content may be incorrect.">
            <a:extLst>
              <a:ext uri="{FF2B5EF4-FFF2-40B4-BE49-F238E27FC236}">
                <a16:creationId xmlns:a16="http://schemas.microsoft.com/office/drawing/2014/main" id="{A4BB2846-7EE8-7CBA-1DB6-B9750477AA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73" y="1811466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2054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430B-9D52-B2A0-D39C-72460C7FC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diagram of a graph&#10;&#10;AI-generated content may be incorrect.">
            <a:extLst>
              <a:ext uri="{FF2B5EF4-FFF2-40B4-BE49-F238E27FC236}">
                <a16:creationId xmlns:a16="http://schemas.microsoft.com/office/drawing/2014/main" id="{670CD130-2A2B-431A-89B6-2E1AC88E0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621" y="1749447"/>
            <a:ext cx="585216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903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DA3ED-01DD-942E-078B-D01EE151B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diagram of a transformer layer index&#10;&#10;AI-generated content may be incorrect.">
            <a:extLst>
              <a:ext uri="{FF2B5EF4-FFF2-40B4-BE49-F238E27FC236}">
                <a16:creationId xmlns:a16="http://schemas.microsoft.com/office/drawing/2014/main" id="{C67A5529-617B-9A57-58E8-D03D6D256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0"/>
            <a:ext cx="842010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8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67620-7D61-D717-8698-00AEAD82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diagram of a graph&#10;&#10;AI-generated content may be incorrect.">
            <a:extLst>
              <a:ext uri="{FF2B5EF4-FFF2-40B4-BE49-F238E27FC236}">
                <a16:creationId xmlns:a16="http://schemas.microsoft.com/office/drawing/2014/main" id="{B2D8D7BA-C774-3E57-027B-925B6F43CF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371" y="949610"/>
            <a:ext cx="6287288" cy="471546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C32953-15AD-3A8A-B496-32400C505B58}"/>
              </a:ext>
            </a:extLst>
          </p:cNvPr>
          <p:cNvSpPr txBox="1"/>
          <p:nvPr/>
        </p:nvSpPr>
        <p:spPr>
          <a:xfrm>
            <a:off x="765811" y="1508760"/>
            <a:ext cx="433170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4: </a:t>
            </a:r>
          </a:p>
          <a:p>
            <a:r>
              <a:rPr lang="en-US" dirty="0"/>
              <a:t>MDS locations of Dutch vowels (monophthongs), after averaging over 50 different MDS runs; </a:t>
            </a:r>
          </a:p>
          <a:p>
            <a:r>
              <a:rPr lang="en-US" dirty="0">
                <a:highlight>
                  <a:srgbClr val="FFFF00"/>
                </a:highlight>
              </a:rPr>
              <a:t>PCA-based corrective rotations are used before creating the overlay. </a:t>
            </a:r>
          </a:p>
          <a:p>
            <a:r>
              <a:rPr lang="en-US" dirty="0"/>
              <a:t>The smaller light-blue markers denote the positions based on transformer layer 1; the larger light-orange markers denote the positions at layer 18; the connecting lines indicate the (simplified) route of the MDS solutions going from transformer layer 1 to transformer layer 18. </a:t>
            </a:r>
          </a:p>
          <a:p>
            <a:r>
              <a:rPr lang="en-US" dirty="0"/>
              <a:t>(Applicability of the Euclidean distance assumed.)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97792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D0E97-C46D-D7B2-5E0B-ADEFD59C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CBFF-48F3-1CA0-35CC-1161CA93F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Preparing for </a:t>
            </a:r>
            <a:r>
              <a:rPr lang="nl-NL" dirty="0" err="1"/>
              <a:t>linear</a:t>
            </a:r>
            <a:r>
              <a:rPr lang="nl-NL" dirty="0"/>
              <a:t> </a:t>
            </a:r>
            <a:r>
              <a:rPr lang="nl-NL" dirty="0" err="1"/>
              <a:t>separability</a:t>
            </a:r>
            <a:r>
              <a:rPr lang="nl-NL" dirty="0"/>
              <a:t>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D58A8-992A-C3B4-37D4-42BABD91B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Figure 4 shows the MDS positions of vowels based on the distances obtained via Eq. 2 from the runner-up distribution in layers 1 and 18 of the </a:t>
            </a:r>
            <a:r>
              <a:rPr lang="en-US" dirty="0" err="1"/>
              <a:t>transformerblock</a:t>
            </a:r>
            <a:r>
              <a:rPr lang="en-US" dirty="0"/>
              <a:t>, respectively. </a:t>
            </a:r>
          </a:p>
          <a:p>
            <a:r>
              <a:rPr lang="en-US" dirty="0"/>
              <a:t>For layer 1 (represented by smaller light-blue markers) the vowel triangle (cf. [5]) is clearly </a:t>
            </a:r>
            <a:r>
              <a:rPr lang="en-US" dirty="0" err="1"/>
              <a:t>respected,and</a:t>
            </a:r>
            <a:r>
              <a:rPr lang="en-US" dirty="0"/>
              <a:t> the topology of the resulting configuration is very close </a:t>
            </a:r>
            <a:r>
              <a:rPr lang="en-US" dirty="0" err="1"/>
              <a:t>tothe</a:t>
            </a:r>
            <a:r>
              <a:rPr lang="en-US" dirty="0"/>
              <a:t> Dutch vowel system. </a:t>
            </a:r>
          </a:p>
          <a:p>
            <a:r>
              <a:rPr lang="en-US" dirty="0"/>
              <a:t>For higher layers, the MDS solution moves away from the configuration found for layer 1 – vowels are pushed apart towards a much more convex vowel </a:t>
            </a:r>
            <a:r>
              <a:rPr lang="en-US" dirty="0" err="1"/>
              <a:t>configu</a:t>
            </a:r>
            <a:r>
              <a:rPr lang="en-US" dirty="0"/>
              <a:t>-ration. </a:t>
            </a:r>
          </a:p>
          <a:p>
            <a:r>
              <a:rPr lang="en-US" dirty="0"/>
              <a:t>An increasing convexity of the configuration can be understood as preparing the latent representation for enabling the ultimate layer to make decisions using linear hyperplanes.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102660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F1C7-9A11-0D80-1F86-8459A16B2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 err="1">
                <a:cs typeface="Arial"/>
              </a:rPr>
              <a:t>Results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1D884-AA68-5BB9-5BEF-46CA8FE4A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Finetuned Wav2vec2 models can produce high-quality transcriptions on the phone level (8.3% on TIMIT test).</a:t>
            </a:r>
          </a:p>
          <a:p>
            <a:endParaRPr lang="en-US" sz="2400" dirty="0"/>
          </a:p>
          <a:p>
            <a:r>
              <a:rPr lang="en-US" sz="2400" dirty="0"/>
              <a:t>Wav2vec2 does not show how confusable phones compete. </a:t>
            </a:r>
          </a:p>
          <a:p>
            <a:endParaRPr lang="en-US" sz="2400" dirty="0"/>
          </a:p>
          <a:p>
            <a:r>
              <a:rPr lang="en-US" sz="2400" dirty="0"/>
              <a:t>Due to the CTC algorithm, the score distance between the winner and all competitors is (usually) very large, and the rank order of the competing phones may be seemingly random, </a:t>
            </a:r>
          </a:p>
          <a:p>
            <a:endParaRPr lang="en-US" sz="2400" dirty="0"/>
          </a:p>
          <a:p>
            <a:r>
              <a:rPr lang="en-US" sz="2400" dirty="0"/>
              <a:t>Wav2vec2 model fine-tuned with CTC is a good phone decision machine, but a poor machine when it comes to describing phonetic structure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969999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C259-3779-A5BF-A6F3-2D65FF31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 with the brain???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71E75-AF63-6672-E130-0ED27D9E4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147" y="2421510"/>
            <a:ext cx="3141315" cy="2739069"/>
          </a:xfrm>
        </p:spPr>
        <p:txBody>
          <a:bodyPr>
            <a:normAutofit/>
          </a:bodyPr>
          <a:lstStyle/>
          <a:p>
            <a:pPr marL="252095" indent="-252095"/>
            <a:r>
              <a:rPr lang="en-US" sz="2400" dirty="0"/>
              <a:t>The Superior Temporal Gyrus (STG) represents the input speech via nonlinear processes …</a:t>
            </a:r>
            <a:endParaRPr lang="nl-NL" sz="2400" dirty="0"/>
          </a:p>
          <a:p>
            <a:pPr marL="252095" indent="-252095"/>
            <a:endParaRPr lang="en-US" sz="2400" dirty="0">
              <a:cs typeface="Arial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rain with red text&#10;&#10;AI-generated content may be incorrect.">
            <a:extLst>
              <a:ext uri="{FF2B5EF4-FFF2-40B4-BE49-F238E27FC236}">
                <a16:creationId xmlns:a16="http://schemas.microsoft.com/office/drawing/2014/main" id="{A6983147-9FBD-FC9D-3632-7AA863E76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264" y="1832505"/>
            <a:ext cx="6184860" cy="3917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178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42DA9-14A4-5703-7119-523ACE54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80E2C-95D2-09D5-50F4-2D4844A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superior temporal gyrus (STG)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54180-CD2F-5FB7-C2AA-0114DDBFB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Speech processing in the human brain is based on a transformation from acoustic speech signals into internal representations via non-linear operations in the STG. </a:t>
            </a:r>
          </a:p>
          <a:p>
            <a:r>
              <a:rPr lang="en-US" dirty="0"/>
              <a:t>The STG contains the </a:t>
            </a:r>
            <a:r>
              <a:rPr lang="en-US" i="1" dirty="0"/>
              <a:t>non primary </a:t>
            </a:r>
            <a:r>
              <a:rPr lang="en-US" dirty="0"/>
              <a:t>auditory cortex where phonological processing is known to take place. </a:t>
            </a:r>
          </a:p>
          <a:p>
            <a:pPr lvl="1"/>
            <a:r>
              <a:rPr lang="en-US" dirty="0"/>
              <a:t>It represents the input speech via nonlinear processes that include </a:t>
            </a:r>
            <a:r>
              <a:rPr lang="en-US" dirty="0" err="1"/>
              <a:t>spectro</a:t>
            </a:r>
            <a:r>
              <a:rPr lang="en-US" dirty="0"/>
              <a:t>-temporal processing, normalization and restoration based on context, and involves complex auditory encoding for acoustic-phonetic and prosodic features. </a:t>
            </a:r>
          </a:p>
        </p:txBody>
      </p:sp>
    </p:spTree>
    <p:extLst>
      <p:ext uri="{BB962C8B-B14F-4D97-AF65-F5344CB8AC3E}">
        <p14:creationId xmlns:p14="http://schemas.microsoft.com/office/powerpoint/2010/main" val="40532551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EC5C-CF81-A191-1728-8C3AD728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Side </a:t>
            </a:r>
            <a:r>
              <a:rPr lang="en-GB"/>
              <a:t>issue: Effect </a:t>
            </a:r>
            <a:r>
              <a:rPr lang="en-GB" dirty="0"/>
              <a:t>of CTC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D5CBA-7224-E4B8-CDDC-D4CF14263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34132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0EAB5-A147-F7BB-ED1B-316E49A0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85DCE10-1557-CE82-A0A7-3B2A466E3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599" y="300037"/>
            <a:ext cx="842010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9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AA9D5C-4495-1D1D-E6CB-CC3A90447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E4039E1-F6E7-0F05-6ECA-EA1DA0066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690" y="197889"/>
            <a:ext cx="8420100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483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84578d9-400d-4a5a-a7c7-e76ca47af400}" enabled="0" method="" siteId="{084578d9-400d-4a5a-a7c7-e76ca47af40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1919</Words>
  <Application>Microsoft Office PowerPoint</Application>
  <PresentationFormat>Widescreen</PresentationFormat>
  <Paragraphs>187</Paragraphs>
  <Slides>39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Aptos</vt:lpstr>
      <vt:lpstr>Aptos Display</vt:lpstr>
      <vt:lpstr>Arial</vt:lpstr>
      <vt:lpstr>Wingdings</vt:lpstr>
      <vt:lpstr>Office Theme</vt:lpstr>
      <vt:lpstr>End-to-end audio encoding and ASR  and phonetics</vt:lpstr>
      <vt:lpstr>Can we understand what Wav2vec2.0 distinguishes?</vt:lpstr>
      <vt:lpstr>Software (more details later)</vt:lpstr>
      <vt:lpstr>Vowel structure</vt:lpstr>
      <vt:lpstr>Phonetic theory</vt:lpstr>
      <vt:lpstr>PowerPoint Presentation</vt:lpstr>
      <vt:lpstr>PowerPoint Presentation</vt:lpstr>
      <vt:lpstr>PowerPoint Presentation</vt:lpstr>
      <vt:lpstr>PowerPoint Presentation</vt:lpstr>
      <vt:lpstr>Data, model</vt:lpstr>
      <vt:lpstr>Method 1 (‘horizontal’)</vt:lpstr>
      <vt:lpstr>Method 1</vt:lpstr>
      <vt:lpstr>KL divergence</vt:lpstr>
      <vt:lpstr>PowerPoint Presentation</vt:lpstr>
      <vt:lpstr>Probing classifiers</vt:lpstr>
      <vt:lpstr>PowerPoint Presentation</vt:lpstr>
      <vt:lpstr>PowerPoint Presentation</vt:lpstr>
      <vt:lpstr>Probing (‘horizontal’)</vt:lpstr>
      <vt:lpstr>Probing classifier (MLP)</vt:lpstr>
      <vt:lpstr>Method 2: ‘vertical’</vt:lpstr>
      <vt:lpstr>Phone–phone competition</vt:lpstr>
      <vt:lpstr>PowerPoint Presentation</vt:lpstr>
      <vt:lpstr>Probability  distance</vt:lpstr>
      <vt:lpstr>PowerPoint Presentation</vt:lpstr>
      <vt:lpstr>Results suggest that</vt:lpstr>
      <vt:lpstr>(Winner, runner-up) - statistics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Preparing for linear separability??</vt:lpstr>
      <vt:lpstr>Results</vt:lpstr>
      <vt:lpstr>Relation with the brain???</vt:lpstr>
      <vt:lpstr>superior temporal gyrus (STG)</vt:lpstr>
      <vt:lpstr>Side issue: Effect of CTC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Bosch, L.F.M. ten (Louis)</dc:creator>
  <cp:lastModifiedBy>Bosch, L.F.M. ten (Louis)</cp:lastModifiedBy>
  <cp:revision>8</cp:revision>
  <dcterms:created xsi:type="dcterms:W3CDTF">2025-02-21T11:17:24Z</dcterms:created>
  <dcterms:modified xsi:type="dcterms:W3CDTF">2025-09-30T15:42:18Z</dcterms:modified>
</cp:coreProperties>
</file>